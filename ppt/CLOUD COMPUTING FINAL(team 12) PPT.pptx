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89" r:id="rId2"/>
    <p:sldId id="257" r:id="rId3"/>
    <p:sldId id="290" r:id="rId4"/>
    <p:sldId id="258" r:id="rId5"/>
    <p:sldId id="259" r:id="rId6"/>
    <p:sldId id="298" r:id="rId7"/>
    <p:sldId id="260" r:id="rId8"/>
    <p:sldId id="291" r:id="rId9"/>
    <p:sldId id="292" r:id="rId10"/>
    <p:sldId id="264" r:id="rId11"/>
    <p:sldId id="261" r:id="rId12"/>
    <p:sldId id="265" r:id="rId13"/>
    <p:sldId id="267" r:id="rId14"/>
    <p:sldId id="293"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u p" userId="02b9ef3fbe962ab0" providerId="LiveId" clId="{89B4F0FC-4E3B-428D-80CA-5993FE4B41B9}"/>
    <pc:docChg chg="modSld">
      <pc:chgData name="guru p" userId="02b9ef3fbe962ab0" providerId="LiveId" clId="{89B4F0FC-4E3B-428D-80CA-5993FE4B41B9}" dt="2026-09-01T05:01:28.929" v="71" actId="20577"/>
      <pc:docMkLst>
        <pc:docMk/>
      </pc:docMkLst>
      <pc:sldChg chg="modSp mod">
        <pc:chgData name="guru p" userId="02b9ef3fbe962ab0" providerId="LiveId" clId="{89B4F0FC-4E3B-428D-80CA-5993FE4B41B9}" dt="2026-09-01T04:54:46.053" v="32" actId="14100"/>
        <pc:sldMkLst>
          <pc:docMk/>
          <pc:sldMk cId="0" sldId="267"/>
        </pc:sldMkLst>
        <pc:spChg chg="mod">
          <ac:chgData name="guru p" userId="02b9ef3fbe962ab0" providerId="LiveId" clId="{89B4F0FC-4E3B-428D-80CA-5993FE4B41B9}" dt="2026-09-01T04:54:46.053" v="32" actId="14100"/>
          <ac:spMkLst>
            <pc:docMk/>
            <pc:sldMk cId="0" sldId="267"/>
            <ac:spMk id="3" creationId="{00000000-0000-0000-0000-000000000000}"/>
          </ac:spMkLst>
        </pc:spChg>
      </pc:sldChg>
      <pc:sldChg chg="modSp mod">
        <pc:chgData name="guru p" userId="02b9ef3fbe962ab0" providerId="LiveId" clId="{89B4F0FC-4E3B-428D-80CA-5993FE4B41B9}" dt="2026-09-01T05:01:28.929" v="71" actId="20577"/>
        <pc:sldMkLst>
          <pc:docMk/>
          <pc:sldMk cId="2747240544" sldId="289"/>
        </pc:sldMkLst>
        <pc:spChg chg="mod">
          <ac:chgData name="guru p" userId="02b9ef3fbe962ab0" providerId="LiveId" clId="{89B4F0FC-4E3B-428D-80CA-5993FE4B41B9}" dt="2026-09-01T05:01:28.929" v="71" actId="20577"/>
          <ac:spMkLst>
            <pc:docMk/>
            <pc:sldMk cId="2747240544" sldId="289"/>
            <ac:spMk id="7" creationId="{88B2EF99-82AA-F1F2-9A6E-5718A160EF18}"/>
          </ac:spMkLst>
        </pc:spChg>
      </pc:sldChg>
      <pc:sldChg chg="addSp modSp mod">
        <pc:chgData name="guru p" userId="02b9ef3fbe962ab0" providerId="LiveId" clId="{89B4F0FC-4E3B-428D-80CA-5993FE4B41B9}" dt="2026-09-01T04:53:44.266" v="22" actId="1076"/>
        <pc:sldMkLst>
          <pc:docMk/>
          <pc:sldMk cId="1914174107" sldId="298"/>
        </pc:sldMkLst>
        <pc:spChg chg="add mod">
          <ac:chgData name="guru p" userId="02b9ef3fbe962ab0" providerId="LiveId" clId="{89B4F0FC-4E3B-428D-80CA-5993FE4B41B9}" dt="2026-09-01T04:52:28.625" v="7" actId="208"/>
          <ac:spMkLst>
            <pc:docMk/>
            <pc:sldMk cId="1914174107" sldId="298"/>
            <ac:spMk id="2" creationId="{3F7682EF-35D5-9F62-82A4-21680F0162CF}"/>
          </ac:spMkLst>
        </pc:spChg>
        <pc:spChg chg="add mod">
          <ac:chgData name="guru p" userId="02b9ef3fbe962ab0" providerId="LiveId" clId="{89B4F0FC-4E3B-428D-80CA-5993FE4B41B9}" dt="2026-09-01T04:52:43.376" v="9" actId="1076"/>
          <ac:spMkLst>
            <pc:docMk/>
            <pc:sldMk cId="1914174107" sldId="298"/>
            <ac:spMk id="5" creationId="{3476A624-11A8-B460-4EA7-37CDA62F00E0}"/>
          </ac:spMkLst>
        </pc:spChg>
        <pc:spChg chg="add mod">
          <ac:chgData name="guru p" userId="02b9ef3fbe962ab0" providerId="LiveId" clId="{89B4F0FC-4E3B-428D-80CA-5993FE4B41B9}" dt="2026-09-01T04:52:59.471" v="13" actId="14100"/>
          <ac:spMkLst>
            <pc:docMk/>
            <pc:sldMk cId="1914174107" sldId="298"/>
            <ac:spMk id="10" creationId="{BC3A1592-6E15-8F5A-CC90-A50E14160E88}"/>
          </ac:spMkLst>
        </pc:spChg>
        <pc:spChg chg="add mod">
          <ac:chgData name="guru p" userId="02b9ef3fbe962ab0" providerId="LiveId" clId="{89B4F0FC-4E3B-428D-80CA-5993FE4B41B9}" dt="2026-09-01T04:53:11.966" v="15" actId="1076"/>
          <ac:spMkLst>
            <pc:docMk/>
            <pc:sldMk cId="1914174107" sldId="298"/>
            <ac:spMk id="12" creationId="{61E9425B-A582-DF97-CFCE-541A6C47ED71}"/>
          </ac:spMkLst>
        </pc:spChg>
        <pc:spChg chg="add mod">
          <ac:chgData name="guru p" userId="02b9ef3fbe962ab0" providerId="LiveId" clId="{89B4F0FC-4E3B-428D-80CA-5993FE4B41B9}" dt="2026-09-01T04:53:44.266" v="22" actId="1076"/>
          <ac:spMkLst>
            <pc:docMk/>
            <pc:sldMk cId="1914174107" sldId="298"/>
            <ac:spMk id="14" creationId="{3AB37C8C-2F33-EAE8-8B1E-77883F104DBC}"/>
          </ac:spMkLst>
        </pc:spChg>
        <pc:picChg chg="mod">
          <ac:chgData name="guru p" userId="02b9ef3fbe962ab0" providerId="LiveId" clId="{89B4F0FC-4E3B-428D-80CA-5993FE4B41B9}" dt="2026-09-01T04:51:49.731" v="3" actId="1076"/>
          <ac:picMkLst>
            <pc:docMk/>
            <pc:sldMk cId="1914174107" sldId="298"/>
            <ac:picMk id="7" creationId="{7E87DC44-7376-441D-1F3A-5483C1013D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7823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https://pub.mdpi-res.com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D26E9-BA8F-E31B-21D7-CE9A55466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9AA4C-2540-19FE-293C-F9108E32B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635BAB-1402-43D3-E669-C7FDF75B4E0E}"/>
              </a:ext>
            </a:extLst>
          </p:cNvPr>
          <p:cNvSpPr>
            <a:spLocks noGrp="1"/>
          </p:cNvSpPr>
          <p:nvPr>
            <p:ph type="body" idx="1"/>
          </p:nvPr>
        </p:nvSpPr>
        <p:spPr/>
        <p:txBody>
          <a:bodyPr/>
          <a:lstStyle/>
          <a:p>
            <a:r>
              <a:rPr lang="en-US" dirty="0"/>
              <a:t>Image source: https://www.mdpi.com</a:t>
            </a:r>
          </a:p>
        </p:txBody>
      </p:sp>
      <p:sp>
        <p:nvSpPr>
          <p:cNvPr id="4" name="Slide Number Placeholder 3">
            <a:extLst>
              <a:ext uri="{FF2B5EF4-FFF2-40B4-BE49-F238E27FC236}">
                <a16:creationId xmlns:a16="http://schemas.microsoft.com/office/drawing/2014/main" id="{95ED5C1A-C522-CC12-B7E4-D2044E66E3E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70840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https://www.mdpi.com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https://pub.mdpi-res.com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D373-CC2B-5190-88A9-99E0FBBE0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8F38F-1E7C-8862-EA59-AA803D258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F70B5-E44E-AD35-3E8A-C386D37D11A8}"/>
              </a:ext>
            </a:extLst>
          </p:cNvPr>
          <p:cNvSpPr>
            <a:spLocks noGrp="1"/>
          </p:cNvSpPr>
          <p:nvPr>
            <p:ph type="body" idx="1"/>
          </p:nvPr>
        </p:nvSpPr>
        <p:spPr/>
        <p:txBody>
          <a:bodyPr/>
          <a:lstStyle/>
          <a:p>
            <a:r>
              <a:rPr lang="en-US" dirty="0"/>
              <a:t>Image source: https://pub.mdpi-res.com</a:t>
            </a:r>
          </a:p>
        </p:txBody>
      </p:sp>
      <p:sp>
        <p:nvSpPr>
          <p:cNvPr id="4" name="Slide Number Placeholder 3">
            <a:extLst>
              <a:ext uri="{FF2B5EF4-FFF2-40B4-BE49-F238E27FC236}">
                <a16:creationId xmlns:a16="http://schemas.microsoft.com/office/drawing/2014/main" id="{158276AC-7FAB-32BD-FF74-F36C98180D0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8594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https://pub.mdpi-res.com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D5D28-F798-FD30-697D-DE35EAF10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B9A38-EBBA-2131-51BF-DB68F2831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5A5038-C06F-3A3F-6E03-498D60A2AD04}"/>
              </a:ext>
            </a:extLst>
          </p:cNvPr>
          <p:cNvSpPr>
            <a:spLocks noGrp="1"/>
          </p:cNvSpPr>
          <p:nvPr>
            <p:ph type="body" idx="1"/>
          </p:nvPr>
        </p:nvSpPr>
        <p:spPr/>
        <p:txBody>
          <a:bodyPr/>
          <a:lstStyle/>
          <a:p>
            <a:r>
              <a:rPr lang="en-US" dirty="0"/>
              <a:t>Image source: https://pub.mdpi-res.com</a:t>
            </a:r>
          </a:p>
        </p:txBody>
      </p:sp>
      <p:sp>
        <p:nvSpPr>
          <p:cNvPr id="4" name="Slide Number Placeholder 3">
            <a:extLst>
              <a:ext uri="{FF2B5EF4-FFF2-40B4-BE49-F238E27FC236}">
                <a16:creationId xmlns:a16="http://schemas.microsoft.com/office/drawing/2014/main" id="{DE574F30-3822-C83A-DB56-9F29EDCA56E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987482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95508-3CFF-D885-04E2-6CE1BBFC5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542E2-006E-3489-879E-6F01D58F5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39E707-A6E1-4737-C44E-B3C22B0C450F}"/>
              </a:ext>
            </a:extLst>
          </p:cNvPr>
          <p:cNvSpPr>
            <a:spLocks noGrp="1"/>
          </p:cNvSpPr>
          <p:nvPr>
            <p:ph type="body" idx="1"/>
          </p:nvPr>
        </p:nvSpPr>
        <p:spPr/>
        <p:txBody>
          <a:bodyPr/>
          <a:lstStyle/>
          <a:p>
            <a:r>
              <a:rPr lang="en-US" dirty="0"/>
              <a:t>Image source: https://pub.mdpi-res.com</a:t>
            </a:r>
          </a:p>
        </p:txBody>
      </p:sp>
      <p:sp>
        <p:nvSpPr>
          <p:cNvPr id="4" name="Slide Number Placeholder 3">
            <a:extLst>
              <a:ext uri="{FF2B5EF4-FFF2-40B4-BE49-F238E27FC236}">
                <a16:creationId xmlns:a16="http://schemas.microsoft.com/office/drawing/2014/main" id="{3C0A60C3-7970-EC27-A90D-483A94746C1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04532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https://pub.mdpi-res.com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https://www.mdpi.com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https://pub.mdpi-res.com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6948035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57094-8701-F282-F96B-11BA02B68B59}"/>
              </a:ext>
            </a:extLst>
          </p:cNvPr>
          <p:cNvSpPr>
            <a:spLocks noGrp="1"/>
          </p:cNvSpPr>
          <p:nvPr>
            <p:ph type="title"/>
          </p:nvPr>
        </p:nvSpPr>
        <p:spPr>
          <a:xfrm>
            <a:off x="628650" y="1609820"/>
            <a:ext cx="7886700" cy="994172"/>
          </a:xfrm>
        </p:spPr>
        <p:txBody>
          <a:bodyPr>
            <a:normAutofit/>
          </a:bodyPr>
          <a:lstStyle/>
          <a:p>
            <a:r>
              <a:rPr lang="en-IN" sz="2400" b="1" dirty="0">
                <a:latin typeface="Times New Roman" panose="02020603050405020304" pitchFamily="18" charset="0"/>
                <a:cs typeface="Times New Roman" panose="02020603050405020304" pitchFamily="18" charset="0"/>
              </a:rPr>
              <a:t>Cloud-Enabled Fuel Consumption Analysis and Energy Efficiency Optimization for Hybrid Vehicles</a:t>
            </a:r>
            <a:endParaRPr lang="en-IN" sz="21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90D3E2-F610-2747-1C75-E6CF00CE5EEF}"/>
              </a:ext>
            </a:extLst>
          </p:cNvPr>
          <p:cNvSpPr>
            <a:spLocks noGrp="1"/>
          </p:cNvSpPr>
          <p:nvPr>
            <p:ph idx="1"/>
          </p:nvPr>
        </p:nvSpPr>
        <p:spPr>
          <a:xfrm>
            <a:off x="505787" y="2571750"/>
            <a:ext cx="7886700" cy="2729277"/>
          </a:xfrm>
        </p:spPr>
        <p:txBody>
          <a:bodyPr>
            <a:normAutofit/>
          </a:bodyPr>
          <a:lstStyle/>
          <a:p>
            <a:pPr marL="0" indent="0" algn="ctr">
              <a:buNone/>
            </a:pPr>
            <a:r>
              <a:rPr lang="en-IN" sz="1500" b="1" dirty="0">
                <a:latin typeface="Times New Roman" panose="02020603050405020304" pitchFamily="18" charset="0"/>
                <a:cs typeface="Times New Roman" panose="02020603050405020304" pitchFamily="18" charset="0"/>
              </a:rPr>
              <a:t>CSA1522-CLOUD COMPUTING &amp; BIG DATA ANALYTICS</a:t>
            </a:r>
          </a:p>
        </p:txBody>
      </p:sp>
      <p:sp>
        <p:nvSpPr>
          <p:cNvPr id="7" name="TextBox 6">
            <a:extLst>
              <a:ext uri="{FF2B5EF4-FFF2-40B4-BE49-F238E27FC236}">
                <a16:creationId xmlns:a16="http://schemas.microsoft.com/office/drawing/2014/main" id="{88B2EF99-82AA-F1F2-9A6E-5718A160EF18}"/>
              </a:ext>
            </a:extLst>
          </p:cNvPr>
          <p:cNvSpPr txBox="1"/>
          <p:nvPr/>
        </p:nvSpPr>
        <p:spPr>
          <a:xfrm>
            <a:off x="6239022" y="3672812"/>
            <a:ext cx="2637692" cy="1338828"/>
          </a:xfrm>
          <a:prstGeom prst="rect">
            <a:avLst/>
          </a:prstGeom>
          <a:noFill/>
        </p:spPr>
        <p:txBody>
          <a:bodyPr wrap="square" rtlCol="0">
            <a:spAutoFit/>
          </a:bodyPr>
          <a:lstStyle/>
          <a:p>
            <a:r>
              <a:rPr lang="en-IN" sz="1350" b="1" dirty="0"/>
              <a:t>Name of the student :</a:t>
            </a:r>
          </a:p>
          <a:p>
            <a:r>
              <a:rPr lang="en-IN" sz="1350" dirty="0" err="1">
                <a:latin typeface="Times New Roman" panose="02020603050405020304" pitchFamily="18" charset="0"/>
                <a:cs typeface="Times New Roman" panose="02020603050405020304" pitchFamily="18" charset="0"/>
              </a:rPr>
              <a:t>P.Guru</a:t>
            </a:r>
            <a:r>
              <a:rPr lang="en-IN" sz="1350" dirty="0">
                <a:latin typeface="Times New Roman" panose="02020603050405020304" pitchFamily="18" charset="0"/>
                <a:cs typeface="Times New Roman" panose="02020603050405020304" pitchFamily="18" charset="0"/>
              </a:rPr>
              <a:t>(192521010)</a:t>
            </a:r>
          </a:p>
          <a:p>
            <a:r>
              <a:rPr lang="en-IN" sz="1350" dirty="0" err="1">
                <a:latin typeface="Times New Roman" panose="02020603050405020304" pitchFamily="18" charset="0"/>
                <a:cs typeface="Times New Roman" panose="02020603050405020304" pitchFamily="18" charset="0"/>
              </a:rPr>
              <a:t>S.Bala</a:t>
            </a:r>
            <a:r>
              <a:rPr lang="en-IN" sz="1350" dirty="0">
                <a:latin typeface="Times New Roman" panose="02020603050405020304" pitchFamily="18" charset="0"/>
                <a:cs typeface="Times New Roman" panose="02020603050405020304" pitchFamily="18" charset="0"/>
              </a:rPr>
              <a:t>(192524427)</a:t>
            </a:r>
          </a:p>
          <a:p>
            <a:r>
              <a:rPr lang="en-IN" sz="1350" dirty="0" err="1">
                <a:latin typeface="Times New Roman" panose="02020603050405020304" pitchFamily="18" charset="0"/>
                <a:cs typeface="Times New Roman" panose="02020603050405020304" pitchFamily="18" charset="0"/>
              </a:rPr>
              <a:t>D.Raghava</a:t>
            </a:r>
            <a:r>
              <a:rPr lang="en-IN" sz="1350">
                <a:latin typeface="Times New Roman" panose="02020603050405020304" pitchFamily="18" charset="0"/>
                <a:cs typeface="Times New Roman" panose="02020603050405020304" pitchFamily="18" charset="0"/>
              </a:rPr>
              <a:t>(192525304)</a:t>
            </a:r>
            <a:endParaRPr lang="en-IN" sz="1350" dirty="0">
              <a:latin typeface="Times New Roman" panose="02020603050405020304" pitchFamily="18" charset="0"/>
              <a:cs typeface="Times New Roman" panose="02020603050405020304" pitchFamily="18" charset="0"/>
            </a:endParaRPr>
          </a:p>
          <a:p>
            <a:endParaRPr lang="en-IN" sz="1350" dirty="0">
              <a:latin typeface="Times New Roman" panose="02020603050405020304" pitchFamily="18" charset="0"/>
              <a:cs typeface="Times New Roman" panose="02020603050405020304" pitchFamily="18" charset="0"/>
            </a:endParaRPr>
          </a:p>
          <a:p>
            <a:endParaRPr lang="en-IN" sz="135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AC0B79C-0873-08C5-C549-9711070DE923}"/>
              </a:ext>
            </a:extLst>
          </p:cNvPr>
          <p:cNvSpPr txBox="1"/>
          <p:nvPr/>
        </p:nvSpPr>
        <p:spPr>
          <a:xfrm>
            <a:off x="628650" y="3672812"/>
            <a:ext cx="2030575" cy="507831"/>
          </a:xfrm>
          <a:prstGeom prst="rect">
            <a:avLst/>
          </a:prstGeom>
          <a:noFill/>
        </p:spPr>
        <p:txBody>
          <a:bodyPr wrap="square" rtlCol="0">
            <a:spAutoFit/>
          </a:bodyPr>
          <a:lstStyle/>
          <a:p>
            <a:r>
              <a:rPr lang="en-IN" sz="1350" b="1" dirty="0"/>
              <a:t>Guided by :</a:t>
            </a:r>
          </a:p>
          <a:p>
            <a:r>
              <a:rPr lang="en-IN" sz="1350" dirty="0">
                <a:latin typeface="Times New Roman" panose="02020603050405020304" pitchFamily="18" charset="0"/>
                <a:cs typeface="Times New Roman" panose="02020603050405020304" pitchFamily="18" charset="0"/>
              </a:rPr>
              <a:t>Dr. Rajaram P </a:t>
            </a:r>
          </a:p>
        </p:txBody>
      </p:sp>
      <p:pic>
        <p:nvPicPr>
          <p:cNvPr id="17" name="Picture 16" descr="Saveetha University">
            <a:extLst>
              <a:ext uri="{FF2B5EF4-FFF2-40B4-BE49-F238E27FC236}">
                <a16:creationId xmlns:a16="http://schemas.microsoft.com/office/drawing/2014/main" id="{4E65343F-AFCE-2551-4001-5C99A7852225}"/>
              </a:ext>
            </a:extLst>
          </p:cNvPr>
          <p:cNvPicPr>
            <a:picLocks noChangeAspect="1"/>
          </p:cNvPicPr>
          <p:nvPr/>
        </p:nvPicPr>
        <p:blipFill>
          <a:blip r:embed="rId2"/>
          <a:stretch>
            <a:fillRect/>
          </a:stretch>
        </p:blipFill>
        <p:spPr>
          <a:xfrm>
            <a:off x="260874" y="237952"/>
            <a:ext cx="4062270" cy="831193"/>
          </a:xfrm>
          <a:prstGeom prst="rect">
            <a:avLst/>
          </a:prstGeom>
        </p:spPr>
      </p:pic>
      <p:pic>
        <p:nvPicPr>
          <p:cNvPr id="20" name="Picture 19" descr="Admissions — SIMATS">
            <a:extLst>
              <a:ext uri="{FF2B5EF4-FFF2-40B4-BE49-F238E27FC236}">
                <a16:creationId xmlns:a16="http://schemas.microsoft.com/office/drawing/2014/main" id="{76952476-05EE-764E-40A1-59AA06F4F2C1}"/>
              </a:ext>
            </a:extLst>
          </p:cNvPr>
          <p:cNvPicPr>
            <a:picLocks noChangeAspect="1"/>
          </p:cNvPicPr>
          <p:nvPr/>
        </p:nvPicPr>
        <p:blipFill>
          <a:blip r:embed="rId3"/>
          <a:stretch>
            <a:fillRect/>
          </a:stretch>
        </p:blipFill>
        <p:spPr>
          <a:xfrm>
            <a:off x="4690920" y="184697"/>
            <a:ext cx="4062270" cy="994172"/>
          </a:xfrm>
          <a:prstGeom prst="rect">
            <a:avLst/>
          </a:prstGeom>
        </p:spPr>
      </p:pic>
    </p:spTree>
    <p:extLst>
      <p:ext uri="{BB962C8B-B14F-4D97-AF65-F5344CB8AC3E}">
        <p14:creationId xmlns:p14="http://schemas.microsoft.com/office/powerpoint/2010/main" val="2747240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502919" y="565066"/>
            <a:ext cx="7828671" cy="685800"/>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p:txBody>
      </p:sp>
      <p:pic>
        <p:nvPicPr>
          <p:cNvPr id="8" name="Picture 7" descr="Saveetha University">
            <a:extLst>
              <a:ext uri="{FF2B5EF4-FFF2-40B4-BE49-F238E27FC236}">
                <a16:creationId xmlns:a16="http://schemas.microsoft.com/office/drawing/2014/main" id="{136D5878-E3A8-758A-AA8F-A6722FC721AD}"/>
              </a:ext>
            </a:extLst>
          </p:cNvPr>
          <p:cNvPicPr>
            <a:picLocks noChangeAspect="1"/>
          </p:cNvPicPr>
          <p:nvPr/>
        </p:nvPicPr>
        <p:blipFill>
          <a:blip r:embed="rId3"/>
          <a:stretch>
            <a:fillRect/>
          </a:stretch>
        </p:blipFill>
        <p:spPr>
          <a:xfrm>
            <a:off x="92061" y="90841"/>
            <a:ext cx="4062270" cy="458399"/>
          </a:xfrm>
          <a:prstGeom prst="rect">
            <a:avLst/>
          </a:prstGeom>
        </p:spPr>
      </p:pic>
      <p:pic>
        <p:nvPicPr>
          <p:cNvPr id="10" name="Picture 9" descr="Admissions — SIMATS">
            <a:extLst>
              <a:ext uri="{FF2B5EF4-FFF2-40B4-BE49-F238E27FC236}">
                <a16:creationId xmlns:a16="http://schemas.microsoft.com/office/drawing/2014/main" id="{94DCDD7C-829E-44A1-95C5-E26E65B00F57}"/>
              </a:ext>
            </a:extLst>
          </p:cNvPr>
          <p:cNvPicPr>
            <a:picLocks noChangeAspect="1"/>
          </p:cNvPicPr>
          <p:nvPr/>
        </p:nvPicPr>
        <p:blipFill>
          <a:blip r:embed="rId4"/>
          <a:stretch>
            <a:fillRect/>
          </a:stretch>
        </p:blipFill>
        <p:spPr>
          <a:xfrm>
            <a:off x="4772463" y="90840"/>
            <a:ext cx="4062270" cy="458399"/>
          </a:xfrm>
          <a:prstGeom prst="rect">
            <a:avLst/>
          </a:prstGeom>
        </p:spPr>
      </p:pic>
      <p:sp>
        <p:nvSpPr>
          <p:cNvPr id="2" name="TextBox 1">
            <a:extLst>
              <a:ext uri="{FF2B5EF4-FFF2-40B4-BE49-F238E27FC236}">
                <a16:creationId xmlns:a16="http://schemas.microsoft.com/office/drawing/2014/main" id="{AE17C43D-7953-5BC1-E54E-298B9B3C2AC4}"/>
              </a:ext>
            </a:extLst>
          </p:cNvPr>
          <p:cNvSpPr txBox="1"/>
          <p:nvPr/>
        </p:nvSpPr>
        <p:spPr>
          <a:xfrm>
            <a:off x="502919" y="1362808"/>
            <a:ext cx="7881425" cy="35548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Hybrid vehicles combine an Internal Combustion Engine (ICE) and an Electric Motor to improve fuel efficiency and reduce emissions.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However, fuel consumption still varies depending on driving conditions such as speed, road slope, traffic, and battery usage.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Computing enables centralized storage, real-time data processing, and intelligent decision-making, making it possible to optimize fuel consumption and improve energy efficiency.</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68966B-5E45-C503-F811-0B60D711E0D5}"/>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20DA9B9C-9C1F-C1B6-ABBC-088B0E145F98}"/>
              </a:ext>
            </a:extLst>
          </p:cNvPr>
          <p:cNvSpPr/>
          <p:nvPr/>
        </p:nvSpPr>
        <p:spPr>
          <a:xfrm>
            <a:off x="254881" y="703681"/>
            <a:ext cx="8229600" cy="520506"/>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p:txBody>
      </p:sp>
      <p:pic>
        <p:nvPicPr>
          <p:cNvPr id="6" name="Picture 5" descr="Admissions — SIMATS">
            <a:extLst>
              <a:ext uri="{FF2B5EF4-FFF2-40B4-BE49-F238E27FC236}">
                <a16:creationId xmlns:a16="http://schemas.microsoft.com/office/drawing/2014/main" id="{3F807FF4-D4C7-17C6-A289-C41F49E5591F}"/>
              </a:ext>
            </a:extLst>
          </p:cNvPr>
          <p:cNvPicPr>
            <a:picLocks noChangeAspect="1"/>
          </p:cNvPicPr>
          <p:nvPr/>
        </p:nvPicPr>
        <p:blipFill>
          <a:blip r:embed="rId3"/>
          <a:stretch>
            <a:fillRect/>
          </a:stretch>
        </p:blipFill>
        <p:spPr>
          <a:xfrm>
            <a:off x="4690920" y="84406"/>
            <a:ext cx="4062270" cy="520505"/>
          </a:xfrm>
          <a:prstGeom prst="rect">
            <a:avLst/>
          </a:prstGeom>
        </p:spPr>
      </p:pic>
      <p:pic>
        <p:nvPicPr>
          <p:cNvPr id="8" name="Picture 7" descr="Saveetha University">
            <a:extLst>
              <a:ext uri="{FF2B5EF4-FFF2-40B4-BE49-F238E27FC236}">
                <a16:creationId xmlns:a16="http://schemas.microsoft.com/office/drawing/2014/main" id="{D77DB304-48B3-37F1-090D-E176DD71BA16}"/>
              </a:ext>
            </a:extLst>
          </p:cNvPr>
          <p:cNvPicPr>
            <a:picLocks noChangeAspect="1"/>
          </p:cNvPicPr>
          <p:nvPr/>
        </p:nvPicPr>
        <p:blipFill>
          <a:blip r:embed="rId4"/>
          <a:stretch>
            <a:fillRect/>
          </a:stretch>
        </p:blipFill>
        <p:spPr>
          <a:xfrm>
            <a:off x="92061" y="90841"/>
            <a:ext cx="4062270" cy="458399"/>
          </a:xfrm>
          <a:prstGeom prst="rect">
            <a:avLst/>
          </a:prstGeom>
        </p:spPr>
      </p:pic>
      <p:sp>
        <p:nvSpPr>
          <p:cNvPr id="2" name="TextBox 1">
            <a:extLst>
              <a:ext uri="{FF2B5EF4-FFF2-40B4-BE49-F238E27FC236}">
                <a16:creationId xmlns:a16="http://schemas.microsoft.com/office/drawing/2014/main" id="{561F0D18-9889-2140-D361-BE8DAD21DC8D}"/>
              </a:ext>
            </a:extLst>
          </p:cNvPr>
          <p:cNvSpPr txBox="1"/>
          <p:nvPr/>
        </p:nvSpPr>
        <p:spPr>
          <a:xfrm>
            <a:off x="606574" y="1392700"/>
            <a:ext cx="7877907" cy="313932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Hybrid vehicles play a significant role in reducing fuel consumption and emissions, but their efficiency depends on driving conditions such as speed, road slope, battery usage, and engine load. This project proposes a </a:t>
            </a:r>
            <a:r>
              <a:rPr lang="en-IN" b="1" dirty="0">
                <a:latin typeface="Times New Roman" panose="02020603050405020304" pitchFamily="18" charset="0"/>
                <a:cs typeface="Times New Roman" panose="02020603050405020304" pitchFamily="18" charset="0"/>
              </a:rPr>
              <a:t>Cloud-Enabled Fuel Consumption Analysis and Energy Efficiency Optimization System</a:t>
            </a:r>
            <a:r>
              <a:rPr lang="en-IN" dirty="0">
                <a:latin typeface="Times New Roman" panose="02020603050405020304" pitchFamily="18" charset="0"/>
                <a:cs typeface="Times New Roman" panose="02020603050405020304" pitchFamily="18" charset="0"/>
              </a:rPr>
              <a:t> that collects and stores vehicle data on a cloud platform for real-time analysis. The system processes these parameters to predict fuel consumption, recommend the optimal driving speed and driving condition, estimate mileage, and calculate the travel distance for 100 litres of fuel. By providing intelligent driving recommendations and centralized cloud-based monitoring, the proposed system aims to improve fuel efficiency, reduce operating costs, and support sustainable transportation, making hybrid vehicles more economical and user-friendly for Indian drivers.</a:t>
            </a:r>
          </a:p>
        </p:txBody>
      </p:sp>
    </p:spTree>
    <p:extLst>
      <p:ext uri="{BB962C8B-B14F-4D97-AF65-F5344CB8AC3E}">
        <p14:creationId xmlns:p14="http://schemas.microsoft.com/office/powerpoint/2010/main" val="822373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223419" y="696348"/>
            <a:ext cx="8229600" cy="520506"/>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p:txBody>
      </p:sp>
      <p:sp>
        <p:nvSpPr>
          <p:cNvPr id="5" name="Text 1"/>
          <p:cNvSpPr/>
          <p:nvPr/>
        </p:nvSpPr>
        <p:spPr>
          <a:xfrm>
            <a:off x="439184" y="1422597"/>
            <a:ext cx="8314006" cy="3024555"/>
          </a:xfrm>
          <a:prstGeom prst="rect">
            <a:avLst/>
          </a:prstGeom>
          <a:noFill/>
          <a:ln/>
        </p:spPr>
        <p:txBody>
          <a:bodyPr wrap="square" rtlCol="0" anchor="t"/>
          <a:lstStyle/>
          <a:p>
            <a:pPr>
              <a:lnSpc>
                <a:spcPct val="150000"/>
              </a:lnSpc>
            </a:pPr>
            <a:r>
              <a:rPr lang="en-IN" b="1" dirty="0">
                <a:latin typeface="Times New Roman" panose="02020603050405020304" pitchFamily="18" charset="0"/>
                <a:cs typeface="Times New Roman" panose="02020603050405020304" pitchFamily="18" charset="0"/>
              </a:rPr>
              <a:t>Existing Problems:</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 fuel consumption during improper driving.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Lack of real-time fuel efficiency recommendations.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centralized storage for driving history.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Difficulty in identifying the most fuel-efficient speed.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Battery energy is not always utilized efficiently.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personalized driving recommendations.</a:t>
            </a:r>
          </a:p>
          <a:p>
            <a:pPr marL="285750" indent="-285750">
              <a:buFont typeface="Arial" panose="020B0604020202020204" pitchFamily="34" charset="0"/>
              <a:buChar char="•"/>
            </a:pPr>
            <a:endParaRPr lang="en-US" sz="1600" dirty="0"/>
          </a:p>
        </p:txBody>
      </p:sp>
      <p:pic>
        <p:nvPicPr>
          <p:cNvPr id="6" name="Picture 5" descr="Admissions — SIMATS">
            <a:extLst>
              <a:ext uri="{FF2B5EF4-FFF2-40B4-BE49-F238E27FC236}">
                <a16:creationId xmlns:a16="http://schemas.microsoft.com/office/drawing/2014/main" id="{F0CCF27A-B923-CFB2-E34D-92165293ED5B}"/>
              </a:ext>
            </a:extLst>
          </p:cNvPr>
          <p:cNvPicPr>
            <a:picLocks noChangeAspect="1"/>
          </p:cNvPicPr>
          <p:nvPr/>
        </p:nvPicPr>
        <p:blipFill>
          <a:blip r:embed="rId3"/>
          <a:stretch>
            <a:fillRect/>
          </a:stretch>
        </p:blipFill>
        <p:spPr>
          <a:xfrm>
            <a:off x="4690920" y="84406"/>
            <a:ext cx="4062270" cy="520505"/>
          </a:xfrm>
          <a:prstGeom prst="rect">
            <a:avLst/>
          </a:prstGeom>
        </p:spPr>
      </p:pic>
      <p:pic>
        <p:nvPicPr>
          <p:cNvPr id="8" name="Picture 7" descr="Saveetha University">
            <a:extLst>
              <a:ext uri="{FF2B5EF4-FFF2-40B4-BE49-F238E27FC236}">
                <a16:creationId xmlns:a16="http://schemas.microsoft.com/office/drawing/2014/main" id="{51F78C6F-61BB-F36E-4E4F-5F4B50855A43}"/>
              </a:ext>
            </a:extLst>
          </p:cNvPr>
          <p:cNvPicPr>
            <a:picLocks noChangeAspect="1"/>
          </p:cNvPicPr>
          <p:nvPr/>
        </p:nvPicPr>
        <p:blipFill>
          <a:blip r:embed="rId4"/>
          <a:stretch>
            <a:fillRect/>
          </a:stretch>
        </p:blipFill>
        <p:spPr>
          <a:xfrm>
            <a:off x="92061" y="90841"/>
            <a:ext cx="4062270" cy="4583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407962"/>
            <a:ext cx="8229600" cy="643597"/>
          </a:xfrm>
          <a:prstGeom prst="rect">
            <a:avLst/>
          </a:prstGeom>
          <a:noFill/>
          <a:ln/>
        </p:spPr>
        <p:txBody>
          <a:bodyPr wrap="square" rtlCol="0" anchor="ctr"/>
          <a:lstStyle/>
          <a:p>
            <a:pPr algn="ctr"/>
            <a:endParaRPr lang="en-US" sz="2400" dirty="0"/>
          </a:p>
        </p:txBody>
      </p:sp>
      <p:pic>
        <p:nvPicPr>
          <p:cNvPr id="6" name="Picture 5" descr="Admissions — SIMATS">
            <a:extLst>
              <a:ext uri="{FF2B5EF4-FFF2-40B4-BE49-F238E27FC236}">
                <a16:creationId xmlns:a16="http://schemas.microsoft.com/office/drawing/2014/main" id="{25D29680-F82F-FC94-45D9-9EE4EC3C5E0C}"/>
              </a:ext>
            </a:extLst>
          </p:cNvPr>
          <p:cNvPicPr>
            <a:picLocks noChangeAspect="1"/>
          </p:cNvPicPr>
          <p:nvPr/>
        </p:nvPicPr>
        <p:blipFill>
          <a:blip r:embed="rId3"/>
          <a:stretch>
            <a:fillRect/>
          </a:stretch>
        </p:blipFill>
        <p:spPr>
          <a:xfrm>
            <a:off x="4690919" y="70338"/>
            <a:ext cx="4333505" cy="499405"/>
          </a:xfrm>
          <a:prstGeom prst="rect">
            <a:avLst/>
          </a:prstGeom>
        </p:spPr>
      </p:pic>
      <p:pic>
        <p:nvPicPr>
          <p:cNvPr id="8" name="Picture 7" descr="Saveetha University">
            <a:extLst>
              <a:ext uri="{FF2B5EF4-FFF2-40B4-BE49-F238E27FC236}">
                <a16:creationId xmlns:a16="http://schemas.microsoft.com/office/drawing/2014/main" id="{22FF8738-7510-5CB8-1AAB-0EDE88D22200}"/>
              </a:ext>
            </a:extLst>
          </p:cNvPr>
          <p:cNvPicPr>
            <a:picLocks noChangeAspect="1"/>
          </p:cNvPicPr>
          <p:nvPr/>
        </p:nvPicPr>
        <p:blipFill>
          <a:blip r:embed="rId4"/>
          <a:stretch>
            <a:fillRect/>
          </a:stretch>
        </p:blipFill>
        <p:spPr>
          <a:xfrm>
            <a:off x="92061" y="90841"/>
            <a:ext cx="4062270" cy="458399"/>
          </a:xfrm>
          <a:prstGeom prst="rect">
            <a:avLst/>
          </a:prstGeom>
        </p:spPr>
      </p:pic>
      <p:sp>
        <p:nvSpPr>
          <p:cNvPr id="2" name="TextBox 1">
            <a:extLst>
              <a:ext uri="{FF2B5EF4-FFF2-40B4-BE49-F238E27FC236}">
                <a16:creationId xmlns:a16="http://schemas.microsoft.com/office/drawing/2014/main" id="{61400630-22AB-53EF-E8DD-7AB0B0AB996D}"/>
              </a:ext>
            </a:extLst>
          </p:cNvPr>
          <p:cNvSpPr txBox="1"/>
          <p:nvPr/>
        </p:nvSpPr>
        <p:spPr>
          <a:xfrm>
            <a:off x="474786" y="635528"/>
            <a:ext cx="7744264"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Objectives</a:t>
            </a:r>
          </a:p>
        </p:txBody>
      </p:sp>
      <p:sp>
        <p:nvSpPr>
          <p:cNvPr id="3" name="TextBox 2">
            <a:extLst>
              <a:ext uri="{FF2B5EF4-FFF2-40B4-BE49-F238E27FC236}">
                <a16:creationId xmlns:a16="http://schemas.microsoft.com/office/drawing/2014/main" id="{FE6ECE05-AD0A-7F29-5B95-27F8F5F0C517}"/>
              </a:ext>
            </a:extLst>
          </p:cNvPr>
          <p:cNvSpPr txBox="1"/>
          <p:nvPr/>
        </p:nvSpPr>
        <p:spPr>
          <a:xfrm>
            <a:off x="717452" y="1216857"/>
            <a:ext cx="7385540" cy="3277820"/>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cloud-enabled fuel monitoring system. </a:t>
            </a:r>
          </a:p>
          <a:p>
            <a:pPr marL="285750" lvl="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fuel consumption using cloud computing.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Recommend optimized driving conditions.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hybrid vehicle energy efficiency.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 unnecessary fuel consumption.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cloud-based reports for drivers.</a:t>
            </a:r>
          </a:p>
          <a:p>
            <a:pPr marL="285750" indent="-285750">
              <a:buFont typeface="Arial" panose="020B0604020202020204" pitchFamily="34" charset="0"/>
              <a:buChar char="•"/>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B707D-65E0-FE64-D9DD-053D09C23C45}"/>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21F7524A-5572-F0CB-930E-F7A503C78BFD}"/>
              </a:ext>
            </a:extLst>
          </p:cNvPr>
          <p:cNvSpPr/>
          <p:nvPr/>
        </p:nvSpPr>
        <p:spPr>
          <a:xfrm>
            <a:off x="457200" y="407962"/>
            <a:ext cx="8229600" cy="643597"/>
          </a:xfrm>
          <a:prstGeom prst="rect">
            <a:avLst/>
          </a:prstGeom>
          <a:noFill/>
          <a:ln/>
        </p:spPr>
        <p:txBody>
          <a:bodyPr wrap="square" rtlCol="0" anchor="ctr"/>
          <a:lstStyle/>
          <a:p>
            <a:pPr algn="ctr"/>
            <a:endParaRPr lang="en-US" sz="2400" dirty="0"/>
          </a:p>
        </p:txBody>
      </p:sp>
      <p:pic>
        <p:nvPicPr>
          <p:cNvPr id="6" name="Picture 5" descr="Admissions — SIMATS">
            <a:extLst>
              <a:ext uri="{FF2B5EF4-FFF2-40B4-BE49-F238E27FC236}">
                <a16:creationId xmlns:a16="http://schemas.microsoft.com/office/drawing/2014/main" id="{485809B7-AC0C-CDE4-3C3C-1DDE6E68EF5D}"/>
              </a:ext>
            </a:extLst>
          </p:cNvPr>
          <p:cNvPicPr>
            <a:picLocks noChangeAspect="1"/>
          </p:cNvPicPr>
          <p:nvPr/>
        </p:nvPicPr>
        <p:blipFill>
          <a:blip r:embed="rId3"/>
          <a:stretch>
            <a:fillRect/>
          </a:stretch>
        </p:blipFill>
        <p:spPr>
          <a:xfrm>
            <a:off x="4690919" y="70338"/>
            <a:ext cx="4333505" cy="499405"/>
          </a:xfrm>
          <a:prstGeom prst="rect">
            <a:avLst/>
          </a:prstGeom>
        </p:spPr>
      </p:pic>
      <p:pic>
        <p:nvPicPr>
          <p:cNvPr id="8" name="Picture 7" descr="Saveetha University">
            <a:extLst>
              <a:ext uri="{FF2B5EF4-FFF2-40B4-BE49-F238E27FC236}">
                <a16:creationId xmlns:a16="http://schemas.microsoft.com/office/drawing/2014/main" id="{F3737CEF-544B-28B4-CF78-BE9A384F2DA4}"/>
              </a:ext>
            </a:extLst>
          </p:cNvPr>
          <p:cNvPicPr>
            <a:picLocks noChangeAspect="1"/>
          </p:cNvPicPr>
          <p:nvPr/>
        </p:nvPicPr>
        <p:blipFill>
          <a:blip r:embed="rId4"/>
          <a:stretch>
            <a:fillRect/>
          </a:stretch>
        </p:blipFill>
        <p:spPr>
          <a:xfrm>
            <a:off x="92061" y="90841"/>
            <a:ext cx="4062270" cy="458399"/>
          </a:xfrm>
          <a:prstGeom prst="rect">
            <a:avLst/>
          </a:prstGeom>
        </p:spPr>
      </p:pic>
      <p:pic>
        <p:nvPicPr>
          <p:cNvPr id="7" name="Picture 6">
            <a:extLst>
              <a:ext uri="{FF2B5EF4-FFF2-40B4-BE49-F238E27FC236}">
                <a16:creationId xmlns:a16="http://schemas.microsoft.com/office/drawing/2014/main" id="{7E87DC44-7376-441D-1F3A-5483C1013DFF}"/>
              </a:ext>
            </a:extLst>
          </p:cNvPr>
          <p:cNvPicPr>
            <a:picLocks noChangeAspect="1"/>
          </p:cNvPicPr>
          <p:nvPr/>
        </p:nvPicPr>
        <p:blipFill>
          <a:blip r:embed="rId5"/>
          <a:srcRect/>
          <a:stretch/>
        </p:blipFill>
        <p:spPr>
          <a:xfrm>
            <a:off x="156024" y="797309"/>
            <a:ext cx="8753168" cy="4076177"/>
          </a:xfrm>
          <a:prstGeom prst="rect">
            <a:avLst/>
          </a:prstGeom>
        </p:spPr>
      </p:pic>
      <p:sp>
        <p:nvSpPr>
          <p:cNvPr id="2" name="Rectangle 1">
            <a:extLst>
              <a:ext uri="{FF2B5EF4-FFF2-40B4-BE49-F238E27FC236}">
                <a16:creationId xmlns:a16="http://schemas.microsoft.com/office/drawing/2014/main" id="{3F7682EF-35D5-9F62-82A4-21680F0162CF}"/>
              </a:ext>
            </a:extLst>
          </p:cNvPr>
          <p:cNvSpPr/>
          <p:nvPr/>
        </p:nvSpPr>
        <p:spPr>
          <a:xfrm>
            <a:off x="634181" y="2123767"/>
            <a:ext cx="1946788" cy="95864"/>
          </a:xfrm>
          <a:prstGeom prst="rect">
            <a:avLst/>
          </a:prstGeom>
          <a:solidFill>
            <a:schemeClr val="accent5">
              <a:lumMod val="20000"/>
              <a:lumOff val="8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476A624-11A8-B460-4EA7-37CDA62F00E0}"/>
              </a:ext>
            </a:extLst>
          </p:cNvPr>
          <p:cNvSpPr/>
          <p:nvPr/>
        </p:nvSpPr>
        <p:spPr>
          <a:xfrm>
            <a:off x="634181" y="2923870"/>
            <a:ext cx="1946788" cy="95864"/>
          </a:xfrm>
          <a:prstGeom prst="rect">
            <a:avLst/>
          </a:prstGeom>
          <a:solidFill>
            <a:schemeClr val="accent5">
              <a:lumMod val="20000"/>
              <a:lumOff val="8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BC3A1592-6E15-8F5A-CC90-A50E14160E88}"/>
              </a:ext>
            </a:extLst>
          </p:cNvPr>
          <p:cNvSpPr/>
          <p:nvPr/>
        </p:nvSpPr>
        <p:spPr>
          <a:xfrm>
            <a:off x="634181" y="3548221"/>
            <a:ext cx="1946788" cy="95864"/>
          </a:xfrm>
          <a:prstGeom prst="rect">
            <a:avLst/>
          </a:prstGeom>
          <a:solidFill>
            <a:schemeClr val="accent5">
              <a:lumMod val="20000"/>
              <a:lumOff val="8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61E9425B-A582-DF97-CFCE-541A6C47ED71}"/>
              </a:ext>
            </a:extLst>
          </p:cNvPr>
          <p:cNvSpPr/>
          <p:nvPr/>
        </p:nvSpPr>
        <p:spPr>
          <a:xfrm>
            <a:off x="634181" y="4178897"/>
            <a:ext cx="1946788" cy="95864"/>
          </a:xfrm>
          <a:prstGeom prst="rect">
            <a:avLst/>
          </a:prstGeom>
          <a:solidFill>
            <a:schemeClr val="accent5">
              <a:lumMod val="20000"/>
              <a:lumOff val="8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3AB37C8C-2F33-EAE8-8B1E-77883F104DBC}"/>
              </a:ext>
            </a:extLst>
          </p:cNvPr>
          <p:cNvSpPr/>
          <p:nvPr/>
        </p:nvSpPr>
        <p:spPr>
          <a:xfrm>
            <a:off x="634181" y="4761641"/>
            <a:ext cx="1946788" cy="95864"/>
          </a:xfrm>
          <a:prstGeom prst="rect">
            <a:avLst/>
          </a:prstGeom>
          <a:solidFill>
            <a:schemeClr val="accent5">
              <a:lumMod val="20000"/>
              <a:lumOff val="8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14174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55209" y="801259"/>
            <a:ext cx="8229600" cy="531055"/>
          </a:xfrm>
          <a:prstGeom prst="rect">
            <a:avLst/>
          </a:prstGeom>
          <a:noFill/>
          <a:ln/>
        </p:spPr>
        <p:txBody>
          <a:bodyPr wrap="square" rtlCol="0" anchor="ctr"/>
          <a:lstStyle/>
          <a:p>
            <a:pPr algn="ctr"/>
            <a:r>
              <a:rPr lang="en-IN" sz="2400" b="1" dirty="0">
                <a:latin typeface="Times New Roman" panose="02020603050405020304" pitchFamily="18" charset="0"/>
                <a:cs typeface="Times New Roman" panose="02020603050405020304" pitchFamily="18" charset="0"/>
              </a:rPr>
              <a:t>Module 1 – Cloud-Based Data Acquisition and Storage</a:t>
            </a:r>
          </a:p>
          <a:p>
            <a:pPr algn="ctr"/>
            <a:endParaRPr lang="en-US" sz="2400" dirty="0"/>
          </a:p>
        </p:txBody>
      </p:sp>
      <p:sp>
        <p:nvSpPr>
          <p:cNvPr id="5" name="Text 1"/>
          <p:cNvSpPr/>
          <p:nvPr/>
        </p:nvSpPr>
        <p:spPr>
          <a:xfrm>
            <a:off x="457201" y="1371599"/>
            <a:ext cx="3763107" cy="3681059"/>
          </a:xfrm>
          <a:prstGeom prst="rect">
            <a:avLst/>
          </a:prstGeom>
          <a:noFill/>
          <a:ln/>
        </p:spPr>
        <p:txBody>
          <a:bodyPr wrap="square" rtlCol="0" anchor="t"/>
          <a:lstStyle/>
          <a:p>
            <a:r>
              <a:rPr lang="en-IN" b="1" dirty="0">
                <a:latin typeface="Times New Roman" panose="02020603050405020304" pitchFamily="18" charset="0"/>
                <a:cs typeface="Times New Roman" panose="02020603050405020304" pitchFamily="18" charset="0"/>
              </a:rPr>
              <a:t>Inputs: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Vehicle Speed (km/h)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Road Slope (%)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Battery Level (%)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Engine Load (%)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Fuel Consumption (L/100 km) </a:t>
            </a:r>
          </a:p>
          <a:p>
            <a:r>
              <a:rPr lang="en-IN" b="1" dirty="0">
                <a:latin typeface="Times New Roman" panose="02020603050405020304" pitchFamily="18" charset="0"/>
                <a:cs typeface="Times New Roman" panose="02020603050405020304" pitchFamily="18" charset="0"/>
              </a:rPr>
              <a:t>Process: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 vehicle parameters.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Validate and preprocess the data.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Upload the data to the cloud database.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 historical records for future analysis.</a:t>
            </a:r>
          </a:p>
          <a:p>
            <a:pPr marL="285750" indent="-285750">
              <a:buFont typeface="Arial" panose="020B0604020202020204" pitchFamily="34" charset="0"/>
              <a:buChar char="•"/>
            </a:pPr>
            <a:endParaRPr lang="en-US" sz="1600" dirty="0"/>
          </a:p>
        </p:txBody>
      </p:sp>
      <p:pic>
        <p:nvPicPr>
          <p:cNvPr id="6" name="Picture 5" descr="Admissions — SIMATS">
            <a:extLst>
              <a:ext uri="{FF2B5EF4-FFF2-40B4-BE49-F238E27FC236}">
                <a16:creationId xmlns:a16="http://schemas.microsoft.com/office/drawing/2014/main" id="{04BFD0C4-588B-BD17-7364-B0E5A6D76AC8}"/>
              </a:ext>
            </a:extLst>
          </p:cNvPr>
          <p:cNvPicPr>
            <a:picLocks noChangeAspect="1"/>
          </p:cNvPicPr>
          <p:nvPr/>
        </p:nvPicPr>
        <p:blipFill>
          <a:blip r:embed="rId3"/>
          <a:stretch>
            <a:fillRect/>
          </a:stretch>
        </p:blipFill>
        <p:spPr>
          <a:xfrm>
            <a:off x="4690920" y="84406"/>
            <a:ext cx="4249098" cy="436099"/>
          </a:xfrm>
          <a:prstGeom prst="rect">
            <a:avLst/>
          </a:prstGeom>
        </p:spPr>
      </p:pic>
      <p:pic>
        <p:nvPicPr>
          <p:cNvPr id="8" name="Picture 7" descr="Saveetha University">
            <a:extLst>
              <a:ext uri="{FF2B5EF4-FFF2-40B4-BE49-F238E27FC236}">
                <a16:creationId xmlns:a16="http://schemas.microsoft.com/office/drawing/2014/main" id="{15C1243B-D1AD-C3B3-FD12-BEF7D4469395}"/>
              </a:ext>
            </a:extLst>
          </p:cNvPr>
          <p:cNvPicPr>
            <a:picLocks noChangeAspect="1"/>
          </p:cNvPicPr>
          <p:nvPr/>
        </p:nvPicPr>
        <p:blipFill>
          <a:blip r:embed="rId4"/>
          <a:stretch>
            <a:fillRect/>
          </a:stretch>
        </p:blipFill>
        <p:spPr>
          <a:xfrm>
            <a:off x="92061" y="90841"/>
            <a:ext cx="4062270" cy="458399"/>
          </a:xfrm>
          <a:prstGeom prst="rect">
            <a:avLst/>
          </a:prstGeom>
        </p:spPr>
      </p:pic>
      <p:sp>
        <p:nvSpPr>
          <p:cNvPr id="3" name="TextBox 2">
            <a:extLst>
              <a:ext uri="{FF2B5EF4-FFF2-40B4-BE49-F238E27FC236}">
                <a16:creationId xmlns:a16="http://schemas.microsoft.com/office/drawing/2014/main" id="{FD1D592F-4800-71E4-09A0-BBA9012142EA}"/>
              </a:ext>
            </a:extLst>
          </p:cNvPr>
          <p:cNvSpPr txBox="1"/>
          <p:nvPr/>
        </p:nvSpPr>
        <p:spPr>
          <a:xfrm>
            <a:off x="4572000" y="1479919"/>
            <a:ext cx="3530990" cy="313932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Output:</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cloud storage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vehicle data availability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Historical driving database </a:t>
            </a:r>
          </a:p>
          <a:p>
            <a:pPr lvl="0"/>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Cloud Concepts Used:</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Storage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Services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REST API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Synchronization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7568F4-9537-9BBE-8E77-0E944199A24A}"/>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D731462E-ADC6-4F16-DB5F-A47D4D4CEE02}"/>
              </a:ext>
            </a:extLst>
          </p:cNvPr>
          <p:cNvSpPr/>
          <p:nvPr/>
        </p:nvSpPr>
        <p:spPr>
          <a:xfrm>
            <a:off x="355209" y="689617"/>
            <a:ext cx="8229600" cy="531055"/>
          </a:xfrm>
          <a:prstGeom prst="rect">
            <a:avLst/>
          </a:prstGeom>
          <a:noFill/>
          <a:ln/>
        </p:spPr>
        <p:txBody>
          <a:bodyPr wrap="square" rtlCol="0" anchor="ctr"/>
          <a:lstStyle/>
          <a:p>
            <a:pPr algn="ctr"/>
            <a:r>
              <a:rPr lang="en-IN" sz="2400" b="1" dirty="0">
                <a:latin typeface="Times New Roman" panose="02020603050405020304" pitchFamily="18" charset="0"/>
                <a:cs typeface="Times New Roman" panose="02020603050405020304" pitchFamily="18" charset="0"/>
              </a:rPr>
              <a:t>Module 2 – Fuel Consumption Analysis and Energy Efficiency Optimization</a:t>
            </a:r>
            <a:endParaRPr lang="en-US" sz="2400" b="1"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84068C86-17F1-551D-B9DF-D917A8D46A55}"/>
              </a:ext>
            </a:extLst>
          </p:cNvPr>
          <p:cNvSpPr/>
          <p:nvPr/>
        </p:nvSpPr>
        <p:spPr>
          <a:xfrm>
            <a:off x="457201" y="1361049"/>
            <a:ext cx="3467685" cy="3632982"/>
          </a:xfrm>
          <a:prstGeom prst="rect">
            <a:avLst/>
          </a:prstGeom>
          <a:noFill/>
          <a:ln/>
        </p:spPr>
        <p:txBody>
          <a:bodyPr wrap="square" rtlCol="0" anchor="t"/>
          <a:lstStyle/>
          <a:p>
            <a:r>
              <a:rPr lang="en-IN" b="1" dirty="0">
                <a:latin typeface="Times New Roman" panose="02020603050405020304" pitchFamily="18" charset="0"/>
                <a:cs typeface="Times New Roman" panose="02020603050405020304" pitchFamily="18" charset="0"/>
              </a:rPr>
              <a:t>Inputs: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Vehicle Speed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Road Slope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Battery Level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Engine Load </a:t>
            </a:r>
          </a:p>
          <a:p>
            <a:r>
              <a:rPr lang="en-IN" b="1" dirty="0">
                <a:latin typeface="Times New Roman" panose="02020603050405020304" pitchFamily="18" charset="0"/>
                <a:cs typeface="Times New Roman" panose="02020603050405020304" pitchFamily="18" charset="0"/>
              </a:rPr>
              <a:t>Process: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Retrieve data from the cloud.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 fuel consumption. </a:t>
            </a:r>
          </a:p>
          <a:p>
            <a:pPr marL="285750" lvl="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energy usage.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Evaluate driving conditions.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Determine the optimal speed for maximum efficiency.</a:t>
            </a:r>
          </a:p>
          <a:p>
            <a:pPr marL="285750" indent="-285750">
              <a:buFont typeface="Arial" panose="020B0604020202020204" pitchFamily="34" charset="0"/>
              <a:buChar char="•"/>
            </a:pPr>
            <a:endParaRPr lang="en-US" sz="1600" dirty="0"/>
          </a:p>
        </p:txBody>
      </p:sp>
      <p:pic>
        <p:nvPicPr>
          <p:cNvPr id="6" name="Picture 5" descr="Admissions — SIMATS">
            <a:extLst>
              <a:ext uri="{FF2B5EF4-FFF2-40B4-BE49-F238E27FC236}">
                <a16:creationId xmlns:a16="http://schemas.microsoft.com/office/drawing/2014/main" id="{A2EB42FF-58FD-8209-D7CB-72F14A4895DD}"/>
              </a:ext>
            </a:extLst>
          </p:cNvPr>
          <p:cNvPicPr>
            <a:picLocks noChangeAspect="1"/>
          </p:cNvPicPr>
          <p:nvPr/>
        </p:nvPicPr>
        <p:blipFill>
          <a:blip r:embed="rId3"/>
          <a:stretch>
            <a:fillRect/>
          </a:stretch>
        </p:blipFill>
        <p:spPr>
          <a:xfrm>
            <a:off x="4690920" y="84406"/>
            <a:ext cx="4249098" cy="436099"/>
          </a:xfrm>
          <a:prstGeom prst="rect">
            <a:avLst/>
          </a:prstGeom>
        </p:spPr>
      </p:pic>
      <p:pic>
        <p:nvPicPr>
          <p:cNvPr id="8" name="Picture 7" descr="Saveetha University">
            <a:extLst>
              <a:ext uri="{FF2B5EF4-FFF2-40B4-BE49-F238E27FC236}">
                <a16:creationId xmlns:a16="http://schemas.microsoft.com/office/drawing/2014/main" id="{5D3C0A79-0557-F009-12CB-1D76CB46403E}"/>
              </a:ext>
            </a:extLst>
          </p:cNvPr>
          <p:cNvPicPr>
            <a:picLocks noChangeAspect="1"/>
          </p:cNvPicPr>
          <p:nvPr/>
        </p:nvPicPr>
        <p:blipFill>
          <a:blip r:embed="rId4"/>
          <a:stretch>
            <a:fillRect/>
          </a:stretch>
        </p:blipFill>
        <p:spPr>
          <a:xfrm>
            <a:off x="92061" y="90841"/>
            <a:ext cx="4062270" cy="458399"/>
          </a:xfrm>
          <a:prstGeom prst="rect">
            <a:avLst/>
          </a:prstGeom>
        </p:spPr>
      </p:pic>
      <p:sp>
        <p:nvSpPr>
          <p:cNvPr id="3" name="TextBox 2">
            <a:extLst>
              <a:ext uri="{FF2B5EF4-FFF2-40B4-BE49-F238E27FC236}">
                <a16:creationId xmlns:a16="http://schemas.microsoft.com/office/drawing/2014/main" id="{E999D280-32C2-97B9-D700-4BF9BB40AFF5}"/>
              </a:ext>
            </a:extLst>
          </p:cNvPr>
          <p:cNvSpPr txBox="1"/>
          <p:nvPr/>
        </p:nvSpPr>
        <p:spPr>
          <a:xfrm>
            <a:off x="4470009" y="1389784"/>
            <a:ext cx="4572000" cy="313932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Output:</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Fuel Consumption (L/100 km)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Mileage (km/L)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Energy Efficiency Score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Optimized Speed </a:t>
            </a:r>
          </a:p>
          <a:p>
            <a:pPr>
              <a:buNone/>
            </a:pPr>
            <a:r>
              <a:rPr lang="en-IN" b="1" dirty="0">
                <a:latin typeface="Times New Roman" panose="02020603050405020304" pitchFamily="18" charset="0"/>
                <a:cs typeface="Times New Roman" panose="02020603050405020304" pitchFamily="18" charset="0"/>
              </a:rPr>
              <a:t>Techniques Used:</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Statistical Analysis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Mean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Variance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Optimization Algorithms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Decision Logic</a:t>
            </a:r>
          </a:p>
        </p:txBody>
      </p:sp>
    </p:spTree>
    <p:extLst>
      <p:ext uri="{BB962C8B-B14F-4D97-AF65-F5344CB8AC3E}">
        <p14:creationId xmlns:p14="http://schemas.microsoft.com/office/powerpoint/2010/main" val="75818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64A06C2-C02C-6D48-8412-CE561BA820E0}"/>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B2AF1F51-C6EB-0202-333A-01EB408305AD}"/>
              </a:ext>
            </a:extLst>
          </p:cNvPr>
          <p:cNvSpPr/>
          <p:nvPr/>
        </p:nvSpPr>
        <p:spPr>
          <a:xfrm>
            <a:off x="355209" y="689617"/>
            <a:ext cx="8229600" cy="531055"/>
          </a:xfrm>
          <a:prstGeom prst="rect">
            <a:avLst/>
          </a:prstGeom>
          <a:noFill/>
          <a:ln/>
        </p:spPr>
        <p:txBody>
          <a:bodyPr wrap="square" rtlCol="0" anchor="ctr"/>
          <a:lstStyle/>
          <a:p>
            <a:pPr algn="ctr"/>
            <a:r>
              <a:rPr lang="en-IN" sz="2400" b="1" dirty="0">
                <a:latin typeface="Times New Roman" panose="02020603050405020304" pitchFamily="18" charset="0"/>
                <a:cs typeface="Times New Roman" panose="02020603050405020304" pitchFamily="18" charset="0"/>
              </a:rPr>
              <a:t>Module 3 – Cloud-Based Recommendation and Monitoring System</a:t>
            </a:r>
            <a:endParaRPr lang="en-US" sz="2400" b="1"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DA9519EB-7E14-9F58-4AE5-7851FCBBC64D}"/>
              </a:ext>
            </a:extLst>
          </p:cNvPr>
          <p:cNvSpPr/>
          <p:nvPr/>
        </p:nvSpPr>
        <p:spPr>
          <a:xfrm>
            <a:off x="355209" y="1361049"/>
            <a:ext cx="4529797" cy="3200400"/>
          </a:xfrm>
          <a:prstGeom prst="rect">
            <a:avLst/>
          </a:prstGeom>
          <a:noFill/>
          <a:ln/>
        </p:spPr>
        <p:txBody>
          <a:bodyPr wrap="square" rtlCol="0" anchor="t"/>
          <a:lstStyle/>
          <a:p>
            <a:r>
              <a:rPr lang="en-IN" b="1" dirty="0">
                <a:latin typeface="Times New Roman" panose="02020603050405020304" pitchFamily="18" charset="0"/>
                <a:cs typeface="Times New Roman" panose="02020603050405020304" pitchFamily="18" charset="0"/>
              </a:rPr>
              <a:t>Process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personalized driving recommendations.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 optimization results.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Monitor vehicle performance continuously.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reports using historical cloud data. </a:t>
            </a:r>
          </a:p>
          <a:p>
            <a:r>
              <a:rPr lang="en-IN" b="1" dirty="0">
                <a:latin typeface="Times New Roman" panose="02020603050405020304" pitchFamily="18" charset="0"/>
                <a:cs typeface="Times New Roman" panose="02020603050405020304" pitchFamily="18" charset="0"/>
              </a:rPr>
              <a:t>Outputs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Recommended Driving Condition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Eco Driving Suggestions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Distance Covered for 100 Litres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Fuel Efficiency Status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Historical Performance Reports</a:t>
            </a:r>
          </a:p>
          <a:p>
            <a:pPr marL="285750" indent="-285750">
              <a:buFont typeface="Arial" panose="020B0604020202020204" pitchFamily="34" charset="0"/>
              <a:buChar char="•"/>
            </a:pPr>
            <a:endParaRPr lang="en-US" sz="1600" dirty="0"/>
          </a:p>
        </p:txBody>
      </p:sp>
      <p:pic>
        <p:nvPicPr>
          <p:cNvPr id="6" name="Picture 5" descr="Admissions — SIMATS">
            <a:extLst>
              <a:ext uri="{FF2B5EF4-FFF2-40B4-BE49-F238E27FC236}">
                <a16:creationId xmlns:a16="http://schemas.microsoft.com/office/drawing/2014/main" id="{7447675B-4BCD-8C2F-0BFF-DB23062B196D}"/>
              </a:ext>
            </a:extLst>
          </p:cNvPr>
          <p:cNvPicPr>
            <a:picLocks noChangeAspect="1"/>
          </p:cNvPicPr>
          <p:nvPr/>
        </p:nvPicPr>
        <p:blipFill>
          <a:blip r:embed="rId3"/>
          <a:stretch>
            <a:fillRect/>
          </a:stretch>
        </p:blipFill>
        <p:spPr>
          <a:xfrm>
            <a:off x="4690920" y="84406"/>
            <a:ext cx="4249098" cy="436099"/>
          </a:xfrm>
          <a:prstGeom prst="rect">
            <a:avLst/>
          </a:prstGeom>
        </p:spPr>
      </p:pic>
      <p:pic>
        <p:nvPicPr>
          <p:cNvPr id="8" name="Picture 7" descr="Saveetha University">
            <a:extLst>
              <a:ext uri="{FF2B5EF4-FFF2-40B4-BE49-F238E27FC236}">
                <a16:creationId xmlns:a16="http://schemas.microsoft.com/office/drawing/2014/main" id="{24D146C1-B978-92CE-E606-DC8DF5939E70}"/>
              </a:ext>
            </a:extLst>
          </p:cNvPr>
          <p:cNvPicPr>
            <a:picLocks noChangeAspect="1"/>
          </p:cNvPicPr>
          <p:nvPr/>
        </p:nvPicPr>
        <p:blipFill>
          <a:blip r:embed="rId4"/>
          <a:stretch>
            <a:fillRect/>
          </a:stretch>
        </p:blipFill>
        <p:spPr>
          <a:xfrm>
            <a:off x="92061" y="90841"/>
            <a:ext cx="4062270" cy="458399"/>
          </a:xfrm>
          <a:prstGeom prst="rect">
            <a:avLst/>
          </a:prstGeom>
        </p:spPr>
      </p:pic>
      <p:sp>
        <p:nvSpPr>
          <p:cNvPr id="3" name="TextBox 2">
            <a:extLst>
              <a:ext uri="{FF2B5EF4-FFF2-40B4-BE49-F238E27FC236}">
                <a16:creationId xmlns:a16="http://schemas.microsoft.com/office/drawing/2014/main" id="{11D18C4D-9275-8C27-4436-8041E4BE4387}"/>
              </a:ext>
            </a:extLst>
          </p:cNvPr>
          <p:cNvSpPr txBox="1"/>
          <p:nvPr/>
        </p:nvSpPr>
        <p:spPr>
          <a:xfrm>
            <a:off x="5528602" y="1494362"/>
            <a:ext cx="3981157" cy="147732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Cloud Concepts Used</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Dashboard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Visualization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Monitoring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Decision Support System</a:t>
            </a:r>
          </a:p>
        </p:txBody>
      </p:sp>
    </p:spTree>
    <p:extLst>
      <p:ext uri="{BB962C8B-B14F-4D97-AF65-F5344CB8AC3E}">
        <p14:creationId xmlns:p14="http://schemas.microsoft.com/office/powerpoint/2010/main" val="1782216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90810" y="388620"/>
            <a:ext cx="8229600" cy="822960"/>
          </a:xfrm>
          <a:prstGeom prst="rect">
            <a:avLst/>
          </a:prstGeom>
          <a:noFill/>
          <a:ln/>
        </p:spPr>
        <p:txBody>
          <a:bodyPr wrap="square" rtlCol="0" anchor="ctr"/>
          <a:lstStyle/>
          <a:p>
            <a:pPr algn="ctr"/>
            <a:endParaRPr lang="en-US" sz="2400" dirty="0"/>
          </a:p>
        </p:txBody>
      </p:sp>
      <p:sp>
        <p:nvSpPr>
          <p:cNvPr id="5" name="Text 1"/>
          <p:cNvSpPr/>
          <p:nvPr/>
        </p:nvSpPr>
        <p:spPr>
          <a:xfrm>
            <a:off x="695038" y="1146516"/>
            <a:ext cx="4953140" cy="3770141"/>
          </a:xfrm>
          <a:prstGeom prst="rect">
            <a:avLst/>
          </a:prstGeom>
          <a:noFill/>
          <a:ln/>
        </p:spPr>
        <p:txBody>
          <a:bodyPr wrap="square" rtlCol="0" anchor="t"/>
          <a:lstStyle/>
          <a:p>
            <a:r>
              <a:rPr lang="en-IN" b="1" dirty="0">
                <a:latin typeface="Times New Roman" panose="02020603050405020304" pitchFamily="18" charset="0"/>
                <a:cs typeface="Times New Roman" panose="02020603050405020304" pitchFamily="18" charset="0"/>
              </a:rPr>
              <a:t>Cloud Computing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Storage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Database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REST API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Processing </a:t>
            </a:r>
          </a:p>
          <a:p>
            <a:r>
              <a:rPr lang="en-IN" b="1" dirty="0">
                <a:latin typeface="Times New Roman" panose="02020603050405020304" pitchFamily="18" charset="0"/>
                <a:cs typeface="Times New Roman" panose="02020603050405020304" pitchFamily="18" charset="0"/>
              </a:rPr>
              <a:t>Statistical Techniques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Mean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Variance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Standard Deviation </a:t>
            </a:r>
          </a:p>
          <a:p>
            <a:r>
              <a:rPr lang="en-IN" b="1" dirty="0">
                <a:latin typeface="Times New Roman" panose="02020603050405020304" pitchFamily="18" charset="0"/>
                <a:cs typeface="Times New Roman" panose="02020603050405020304" pitchFamily="18" charset="0"/>
              </a:rPr>
              <a:t>Data Analysis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Fuel Consumption Analysis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Energy Efficiency Calculation</a:t>
            </a:r>
          </a:p>
          <a:p>
            <a:endParaRPr lang="en-US" dirty="0">
              <a:latin typeface="Times New Roman" panose="02020603050405020304" pitchFamily="18" charset="0"/>
              <a:cs typeface="Times New Roman" panose="02020603050405020304" pitchFamily="18" charset="0"/>
            </a:endParaRPr>
          </a:p>
        </p:txBody>
      </p:sp>
      <p:pic>
        <p:nvPicPr>
          <p:cNvPr id="6" name="Picture 5" descr="Admissions — SIMATS">
            <a:extLst>
              <a:ext uri="{FF2B5EF4-FFF2-40B4-BE49-F238E27FC236}">
                <a16:creationId xmlns:a16="http://schemas.microsoft.com/office/drawing/2014/main" id="{EAD7DE1C-7AC9-0271-EED6-CEECE7E19123}"/>
              </a:ext>
            </a:extLst>
          </p:cNvPr>
          <p:cNvPicPr>
            <a:picLocks noChangeAspect="1"/>
          </p:cNvPicPr>
          <p:nvPr/>
        </p:nvPicPr>
        <p:blipFill>
          <a:blip r:embed="rId3"/>
          <a:stretch>
            <a:fillRect/>
          </a:stretch>
        </p:blipFill>
        <p:spPr>
          <a:xfrm>
            <a:off x="4690920" y="49237"/>
            <a:ext cx="4062270" cy="485335"/>
          </a:xfrm>
          <a:prstGeom prst="rect">
            <a:avLst/>
          </a:prstGeom>
        </p:spPr>
      </p:pic>
      <p:pic>
        <p:nvPicPr>
          <p:cNvPr id="8" name="Picture 7" descr="Saveetha University">
            <a:extLst>
              <a:ext uri="{FF2B5EF4-FFF2-40B4-BE49-F238E27FC236}">
                <a16:creationId xmlns:a16="http://schemas.microsoft.com/office/drawing/2014/main" id="{BBF5D320-9BA9-E228-0E05-56BE499CBEEB}"/>
              </a:ext>
            </a:extLst>
          </p:cNvPr>
          <p:cNvPicPr>
            <a:picLocks noChangeAspect="1"/>
          </p:cNvPicPr>
          <p:nvPr/>
        </p:nvPicPr>
        <p:blipFill>
          <a:blip r:embed="rId4"/>
          <a:stretch>
            <a:fillRect/>
          </a:stretch>
        </p:blipFill>
        <p:spPr>
          <a:xfrm>
            <a:off x="92061" y="90841"/>
            <a:ext cx="4062270" cy="458399"/>
          </a:xfrm>
          <a:prstGeom prst="rect">
            <a:avLst/>
          </a:prstGeom>
        </p:spPr>
      </p:pic>
      <p:sp>
        <p:nvSpPr>
          <p:cNvPr id="3" name="TextBox 2">
            <a:extLst>
              <a:ext uri="{FF2B5EF4-FFF2-40B4-BE49-F238E27FC236}">
                <a16:creationId xmlns:a16="http://schemas.microsoft.com/office/drawing/2014/main" id="{26A2BB36-BC9F-C98C-6E6A-3DD3A6CC78DA}"/>
              </a:ext>
            </a:extLst>
          </p:cNvPr>
          <p:cNvSpPr txBox="1"/>
          <p:nvPr/>
        </p:nvSpPr>
        <p:spPr>
          <a:xfrm>
            <a:off x="2319195" y="542206"/>
            <a:ext cx="4505610" cy="738664"/>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Techniques Used</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464234"/>
            <a:ext cx="8229600" cy="587326"/>
          </a:xfrm>
          <a:prstGeom prst="rect">
            <a:avLst/>
          </a:prstGeom>
          <a:noFill/>
          <a:ln/>
        </p:spPr>
        <p:txBody>
          <a:bodyPr wrap="square" rtlCol="0" anchor="ctr"/>
          <a:lstStyle/>
          <a:p>
            <a:pPr algn="ctr"/>
            <a:r>
              <a:rPr lang="en-IN" sz="2400" b="1" dirty="0">
                <a:latin typeface="Times New Roman" panose="02020603050405020304" pitchFamily="18" charset="0"/>
                <a:cs typeface="Times New Roman" panose="02020603050405020304" pitchFamily="18" charset="0"/>
              </a:rPr>
              <a:t>Benefits for India</a:t>
            </a:r>
            <a:endParaRPr lang="en-US" sz="2400" b="1" dirty="0">
              <a:latin typeface="Times New Roman" panose="02020603050405020304" pitchFamily="18" charset="0"/>
              <a:cs typeface="Times New Roman" panose="02020603050405020304" pitchFamily="18" charset="0"/>
            </a:endParaRPr>
          </a:p>
        </p:txBody>
      </p:sp>
      <p:sp>
        <p:nvSpPr>
          <p:cNvPr id="5" name="Text 1"/>
          <p:cNvSpPr/>
          <p:nvPr/>
        </p:nvSpPr>
        <p:spPr>
          <a:xfrm>
            <a:off x="513471" y="971549"/>
            <a:ext cx="7167489" cy="4081109"/>
          </a:xfrm>
          <a:prstGeom prst="rect">
            <a:avLst/>
          </a:prstGeom>
          <a:noFill/>
          <a:ln/>
        </p:spPr>
        <p:txBody>
          <a:bodyPr wrap="square" rtlCol="0" anchor="t"/>
          <a:lstStyle/>
          <a:p>
            <a:r>
              <a:rPr lang="en-IN" b="1" dirty="0">
                <a:latin typeface="Times New Roman" panose="02020603050405020304" pitchFamily="18" charset="0"/>
                <a:cs typeface="Times New Roman" panose="02020603050405020304" pitchFamily="18" charset="0"/>
              </a:rPr>
              <a:t>How will this help India?</a:t>
            </a:r>
          </a:p>
          <a:p>
            <a:r>
              <a:rPr lang="en-IN" b="1" dirty="0">
                <a:latin typeface="Times New Roman" panose="02020603050405020304" pitchFamily="18" charset="0"/>
                <a:cs typeface="Times New Roman" panose="02020603050405020304" pitchFamily="18" charset="0"/>
              </a:rPr>
              <a:t>Rising Fuel Prices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Drivers can reduce fuel expenses by following optimized driving recommendations.</a:t>
            </a:r>
          </a:p>
          <a:p>
            <a:r>
              <a:rPr lang="en-IN" b="1" dirty="0">
                <a:latin typeface="Times New Roman" panose="02020603050405020304" pitchFamily="18" charset="0"/>
                <a:cs typeface="Times New Roman" panose="02020603050405020304" pitchFamily="18" charset="0"/>
              </a:rPr>
              <a:t>Environmental Protection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Lower fuel consumption reduces CO₂ emissions.</a:t>
            </a:r>
          </a:p>
          <a:p>
            <a:r>
              <a:rPr lang="en-IN" b="1" dirty="0">
                <a:latin typeface="Times New Roman" panose="02020603050405020304" pitchFamily="18" charset="0"/>
                <a:cs typeface="Times New Roman" panose="02020603050405020304" pitchFamily="18" charset="0"/>
              </a:rPr>
              <a:t>Smart Transportation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India's smart mobility initiatives.</a:t>
            </a:r>
          </a:p>
          <a:p>
            <a:r>
              <a:rPr lang="en-IN" b="1" dirty="0">
                <a:latin typeface="Times New Roman" panose="02020603050405020304" pitchFamily="18" charset="0"/>
                <a:cs typeface="Times New Roman" panose="02020603050405020304" pitchFamily="18" charset="0"/>
              </a:rPr>
              <a:t>Fleet Management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Useful for taxis, buses, delivery vehicles, and logistics companies.</a:t>
            </a:r>
          </a:p>
          <a:p>
            <a:r>
              <a:rPr lang="en-IN" b="1" dirty="0">
                <a:latin typeface="Times New Roman" panose="02020603050405020304" pitchFamily="18" charset="0"/>
                <a:cs typeface="Times New Roman" panose="02020603050405020304" pitchFamily="18" charset="0"/>
              </a:rPr>
              <a:t>Reduced Fuel Imports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Lower fuel consumption decreases dependence on imported petroleum.</a:t>
            </a:r>
          </a:p>
          <a:p>
            <a:r>
              <a:rPr lang="en-IN" b="1" dirty="0">
                <a:latin typeface="Times New Roman" panose="02020603050405020304" pitchFamily="18" charset="0"/>
                <a:cs typeface="Times New Roman" panose="02020603050405020304" pitchFamily="18" charset="0"/>
              </a:rPr>
              <a:t>Supports Electric Mobility</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improve the adoption of hybrid vehicles.</a:t>
            </a:r>
          </a:p>
          <a:p>
            <a:endParaRPr lang="en-US" sz="1600" dirty="0"/>
          </a:p>
        </p:txBody>
      </p:sp>
      <p:pic>
        <p:nvPicPr>
          <p:cNvPr id="6" name="Picture 5" descr="Admissions — SIMATS">
            <a:extLst>
              <a:ext uri="{FF2B5EF4-FFF2-40B4-BE49-F238E27FC236}">
                <a16:creationId xmlns:a16="http://schemas.microsoft.com/office/drawing/2014/main" id="{84425623-525D-AA26-9F21-A98065FA226C}"/>
              </a:ext>
            </a:extLst>
          </p:cNvPr>
          <p:cNvPicPr>
            <a:picLocks noChangeAspect="1"/>
          </p:cNvPicPr>
          <p:nvPr/>
        </p:nvPicPr>
        <p:blipFill>
          <a:blip r:embed="rId3"/>
          <a:stretch>
            <a:fillRect/>
          </a:stretch>
        </p:blipFill>
        <p:spPr>
          <a:xfrm>
            <a:off x="4690920" y="70338"/>
            <a:ext cx="4114800" cy="506437"/>
          </a:xfrm>
          <a:prstGeom prst="rect">
            <a:avLst/>
          </a:prstGeom>
        </p:spPr>
      </p:pic>
      <p:pic>
        <p:nvPicPr>
          <p:cNvPr id="8" name="Picture 7" descr="Saveetha University">
            <a:extLst>
              <a:ext uri="{FF2B5EF4-FFF2-40B4-BE49-F238E27FC236}">
                <a16:creationId xmlns:a16="http://schemas.microsoft.com/office/drawing/2014/main" id="{AC4644FE-3C24-6480-0D3A-3F26E0F395AA}"/>
              </a:ext>
            </a:extLst>
          </p:cNvPr>
          <p:cNvPicPr>
            <a:picLocks noChangeAspect="1"/>
          </p:cNvPicPr>
          <p:nvPr/>
        </p:nvPicPr>
        <p:blipFill>
          <a:blip r:embed="rId4"/>
          <a:stretch>
            <a:fillRect/>
          </a:stretch>
        </p:blipFill>
        <p:spPr>
          <a:xfrm>
            <a:off x="92061" y="90841"/>
            <a:ext cx="4062270" cy="4583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90395" y="320040"/>
            <a:ext cx="8229600" cy="822960"/>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p:txBody>
      </p:sp>
      <p:sp>
        <p:nvSpPr>
          <p:cNvPr id="5" name="Text 1"/>
          <p:cNvSpPr/>
          <p:nvPr/>
        </p:nvSpPr>
        <p:spPr>
          <a:xfrm>
            <a:off x="424005" y="1280759"/>
            <a:ext cx="8295990" cy="3771900"/>
          </a:xfrm>
          <a:prstGeom prst="rect">
            <a:avLst/>
          </a:prstGeom>
          <a:noFill/>
          <a:ln/>
        </p:spPr>
        <p:txBody>
          <a:bodyPr wrap="square" rtlCol="0" anchor="t"/>
          <a:lstStyle/>
          <a:p>
            <a:r>
              <a:rPr lang="en-IN" dirty="0">
                <a:latin typeface="Times New Roman" panose="02020603050405020304" pitchFamily="18" charset="0"/>
                <a:cs typeface="Times New Roman" panose="02020603050405020304" pitchFamily="18" charset="0"/>
              </a:rPr>
              <a:t>Cloud computing provides an intelligent platform for monitoring and optimizing hybrid vehicle performance. </a:t>
            </a:r>
          </a:p>
          <a:p>
            <a:r>
              <a:rPr lang="en-IN" dirty="0">
                <a:latin typeface="Times New Roman" panose="02020603050405020304" pitchFamily="18" charset="0"/>
                <a:cs typeface="Times New Roman" panose="02020603050405020304" pitchFamily="18" charset="0"/>
              </a:rPr>
              <a:t>By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vehicle parameters in real time, the proposed system recommends efficient driving conditions, reduces fuel consumption, improves energy efficiency, and supports environmentally sustainable transportation.</a:t>
            </a:r>
            <a:endParaRPr lang="en-US" sz="1600" dirty="0">
              <a:latin typeface="Times New Roman" panose="02020603050405020304" pitchFamily="18" charset="0"/>
              <a:cs typeface="Times New Roman" panose="02020603050405020304" pitchFamily="18" charset="0"/>
            </a:endParaRPr>
          </a:p>
        </p:txBody>
      </p:sp>
      <p:pic>
        <p:nvPicPr>
          <p:cNvPr id="6" name="Picture 5" descr="Admissions — SIMATS">
            <a:extLst>
              <a:ext uri="{FF2B5EF4-FFF2-40B4-BE49-F238E27FC236}">
                <a16:creationId xmlns:a16="http://schemas.microsoft.com/office/drawing/2014/main" id="{AB78A499-A10B-1964-FF2B-15764B2F7ED3}"/>
              </a:ext>
            </a:extLst>
          </p:cNvPr>
          <p:cNvPicPr>
            <a:picLocks noChangeAspect="1"/>
          </p:cNvPicPr>
          <p:nvPr/>
        </p:nvPicPr>
        <p:blipFill>
          <a:blip r:embed="rId3"/>
          <a:stretch>
            <a:fillRect/>
          </a:stretch>
        </p:blipFill>
        <p:spPr>
          <a:xfrm>
            <a:off x="4690920" y="70339"/>
            <a:ext cx="4062270" cy="471267"/>
          </a:xfrm>
          <a:prstGeom prst="rect">
            <a:avLst/>
          </a:prstGeom>
        </p:spPr>
      </p:pic>
      <p:pic>
        <p:nvPicPr>
          <p:cNvPr id="8" name="Picture 7" descr="Saveetha University">
            <a:extLst>
              <a:ext uri="{FF2B5EF4-FFF2-40B4-BE49-F238E27FC236}">
                <a16:creationId xmlns:a16="http://schemas.microsoft.com/office/drawing/2014/main" id="{B7E3E331-02E3-7373-5BCE-248788A12F44}"/>
              </a:ext>
            </a:extLst>
          </p:cNvPr>
          <p:cNvPicPr>
            <a:picLocks noChangeAspect="1"/>
          </p:cNvPicPr>
          <p:nvPr/>
        </p:nvPicPr>
        <p:blipFill>
          <a:blip r:embed="rId4"/>
          <a:stretch>
            <a:fillRect/>
          </a:stretch>
        </p:blipFill>
        <p:spPr>
          <a:xfrm>
            <a:off x="92061" y="90841"/>
            <a:ext cx="4062270" cy="4583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0810" y="397412"/>
            <a:ext cx="8229600" cy="822960"/>
          </a:xfrm>
          <a:prstGeom prst="rect">
            <a:avLst/>
          </a:prstGeom>
          <a:noFill/>
          <a:ln/>
        </p:spPr>
        <p:txBody>
          <a:bodyPr wrap="square" rtlCol="0" anchor="ctr"/>
          <a:lstStyle/>
          <a:p>
            <a:pPr algn="ctr"/>
            <a:r>
              <a:rPr lang="en-US" sz="2400" b="1" dirty="0">
                <a:solidFill>
                  <a:srgbClr val="000000"/>
                </a:solidFill>
                <a:latin typeface="Times New Roman" panose="02020603050405020304" pitchFamily="18" charset="0"/>
                <a:ea typeface="Optima" pitchFamily="34" charset="-122"/>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p:txBody>
      </p:sp>
      <p:sp>
        <p:nvSpPr>
          <p:cNvPr id="3" name="Text 1"/>
          <p:cNvSpPr/>
          <p:nvPr/>
        </p:nvSpPr>
        <p:spPr>
          <a:xfrm>
            <a:off x="766917" y="1248961"/>
            <a:ext cx="7551742" cy="3838268"/>
          </a:xfrm>
          <a:prstGeom prst="rect">
            <a:avLst/>
          </a:prstGeom>
          <a:noFill/>
          <a:ln/>
        </p:spPr>
        <p:txBody>
          <a:bodyPr wrap="square" rtlCol="0" anchor="t"/>
          <a:lstStyle/>
          <a:p>
            <a:pPr lvl="0"/>
            <a:r>
              <a:rPr lang="en-US" sz="1500" i="1" dirty="0">
                <a:latin typeface="Times New Roman" panose="02020603050405020304" pitchFamily="18" charset="0"/>
                <a:cs typeface="Times New Roman" panose="02020603050405020304" pitchFamily="18" charset="0"/>
              </a:rPr>
              <a:t>Kumar et al., "Cloud-Based </a:t>
            </a:r>
            <a:r>
              <a:rPr lang="en-US" sz="1500" i="1" dirty="0" err="1">
                <a:latin typeface="Times New Roman" panose="02020603050405020304" pitchFamily="18" charset="0"/>
                <a:cs typeface="Times New Roman" panose="02020603050405020304" pitchFamily="18" charset="0"/>
              </a:rPr>
              <a:t>loT</a:t>
            </a:r>
            <a:r>
              <a:rPr lang="en-US" sz="1500" i="1" dirty="0">
                <a:latin typeface="Times New Roman" panose="02020603050405020304" pitchFamily="18" charset="0"/>
                <a:cs typeface="Times New Roman" panose="02020603050405020304" pitchFamily="18" charset="0"/>
              </a:rPr>
              <a:t> Framework for Hybrid Vehicle Monitoring and Optimization", IEEE Access, </a:t>
            </a:r>
            <a:r>
              <a:rPr lang="en-US" sz="1500" b="1" i="1" dirty="0">
                <a:latin typeface="Times New Roman" panose="02020603050405020304" pitchFamily="18" charset="0"/>
                <a:cs typeface="Times New Roman" panose="02020603050405020304" pitchFamily="18" charset="0"/>
              </a:rPr>
              <a:t>2025</a:t>
            </a:r>
            <a:endParaRPr lang="en-US" sz="1500" i="1" dirty="0">
              <a:latin typeface="Times New Roman" panose="02020603050405020304" pitchFamily="18" charset="0"/>
              <a:cs typeface="Times New Roman" panose="02020603050405020304" pitchFamily="18" charset="0"/>
            </a:endParaRPr>
          </a:p>
          <a:p>
            <a:pPr lvl="0"/>
            <a:endParaRPr lang="en-IN" sz="1500" i="1" dirty="0">
              <a:latin typeface="Times New Roman" panose="02020603050405020304" pitchFamily="18" charset="0"/>
              <a:cs typeface="Times New Roman" panose="02020603050405020304" pitchFamily="18" charset="0"/>
            </a:endParaRPr>
          </a:p>
          <a:p>
            <a:pPr lvl="0"/>
            <a:r>
              <a:rPr lang="en-IN" sz="1500" i="1" dirty="0">
                <a:latin typeface="Times New Roman" panose="02020603050405020304" pitchFamily="18" charset="0"/>
                <a:cs typeface="Times New Roman" panose="02020603050405020304" pitchFamily="18" charset="0"/>
              </a:rPr>
              <a:t>Sharma et al., "Hybrid </a:t>
            </a:r>
            <a:r>
              <a:rPr lang="en-IN" sz="1500" i="1" dirty="0" err="1">
                <a:latin typeface="Times New Roman" panose="02020603050405020304" pitchFamily="18" charset="0"/>
                <a:cs typeface="Times New Roman" panose="02020603050405020304" pitchFamily="18" charset="0"/>
              </a:rPr>
              <a:t>VehicleEnergy</a:t>
            </a:r>
            <a:r>
              <a:rPr lang="en-IN" sz="1500" i="1" dirty="0">
                <a:latin typeface="Times New Roman" panose="02020603050405020304" pitchFamily="18" charset="0"/>
                <a:cs typeface="Times New Roman" panose="02020603050405020304" pitchFamily="18" charset="0"/>
              </a:rPr>
              <a:t> Management Using Cloud and Machine Learning", IEEE Transactions on Intelligent Transportation Systems, </a:t>
            </a:r>
            <a:r>
              <a:rPr lang="en-IN" sz="1500" b="1" i="1" dirty="0">
                <a:latin typeface="Times New Roman" panose="02020603050405020304" pitchFamily="18" charset="0"/>
                <a:cs typeface="Times New Roman" panose="02020603050405020304" pitchFamily="18" charset="0"/>
              </a:rPr>
              <a:t>2025</a:t>
            </a:r>
            <a:r>
              <a:rPr lang="en-IN" sz="1500" i="1" dirty="0">
                <a:latin typeface="Times New Roman" panose="02020603050405020304" pitchFamily="18" charset="0"/>
                <a:cs typeface="Times New Roman" panose="02020603050405020304" pitchFamily="18" charset="0"/>
              </a:rPr>
              <a:t>.</a:t>
            </a:r>
          </a:p>
          <a:p>
            <a:pPr lvl="0"/>
            <a:endParaRPr lang="en-IN" sz="1500" i="1" dirty="0">
              <a:latin typeface="Times New Roman" panose="02020603050405020304" pitchFamily="18" charset="0"/>
              <a:cs typeface="Times New Roman" panose="02020603050405020304" pitchFamily="18" charset="0"/>
            </a:endParaRPr>
          </a:p>
          <a:p>
            <a:pPr lvl="0"/>
            <a:r>
              <a:rPr lang="en-US" sz="1500" i="1" dirty="0">
                <a:latin typeface="Times New Roman" panose="02020603050405020304" pitchFamily="18" charset="0"/>
                <a:cs typeface="Times New Roman" panose="02020603050405020304" pitchFamily="18" charset="0"/>
              </a:rPr>
              <a:t>Patel et al., "Cloud-Enabled Smart Mobility Solution for Hybrid Vehicles", IEEE Internet of Things Journal, </a:t>
            </a:r>
            <a:r>
              <a:rPr lang="en-US" sz="1500" b="1" i="1" dirty="0">
                <a:latin typeface="Times New Roman" panose="02020603050405020304" pitchFamily="18" charset="0"/>
                <a:cs typeface="Times New Roman" panose="02020603050405020304" pitchFamily="18" charset="0"/>
              </a:rPr>
              <a:t>2026</a:t>
            </a:r>
            <a:r>
              <a:rPr lang="en-US" sz="1500" i="1" dirty="0">
                <a:latin typeface="Times New Roman" panose="02020603050405020304" pitchFamily="18" charset="0"/>
                <a:cs typeface="Times New Roman" panose="02020603050405020304" pitchFamily="18" charset="0"/>
              </a:rPr>
              <a:t>.</a:t>
            </a:r>
          </a:p>
          <a:p>
            <a:pPr lvl="0"/>
            <a:endParaRPr lang="en-IN" sz="1500" i="1" dirty="0">
              <a:latin typeface="Times New Roman" panose="02020603050405020304" pitchFamily="18" charset="0"/>
              <a:cs typeface="Times New Roman" panose="02020603050405020304" pitchFamily="18" charset="0"/>
            </a:endParaRPr>
          </a:p>
          <a:p>
            <a:r>
              <a:rPr lang="en-US" sz="1600" i="1" dirty="0">
                <a:latin typeface="Times New Roman" panose="02020603050405020304" pitchFamily="18" charset="0"/>
                <a:cs typeface="Times New Roman" panose="02020603050405020304" pitchFamily="18" charset="0"/>
              </a:rPr>
              <a:t>Singh et al., "Fuel Consumption Prediction and Efficiency Optimization in Hybrid Vehicles Using Cloud and Al", Journal of Cleaner Production</a:t>
            </a:r>
            <a:r>
              <a:rPr lang="en-US" sz="1600" b="1" i="1" dirty="0">
                <a:latin typeface="Times New Roman" panose="02020603050405020304" pitchFamily="18" charset="0"/>
                <a:cs typeface="Times New Roman" panose="02020603050405020304" pitchFamily="18" charset="0"/>
              </a:rPr>
              <a:t>, 2026. </a:t>
            </a:r>
            <a:endParaRPr lang="en-US" sz="1600" i="1" dirty="0">
              <a:latin typeface="Times New Roman" panose="02020603050405020304" pitchFamily="18" charset="0"/>
              <a:cs typeface="Times New Roman" panose="02020603050405020304" pitchFamily="18" charset="0"/>
            </a:endParaRPr>
          </a:p>
          <a:p>
            <a:endParaRPr lang="en-US" sz="1600" i="1" dirty="0">
              <a:latin typeface="Times New Roman" panose="02020603050405020304" pitchFamily="18" charset="0"/>
              <a:cs typeface="Times New Roman" panose="02020603050405020304" pitchFamily="18" charset="0"/>
            </a:endParaRPr>
          </a:p>
          <a:p>
            <a:r>
              <a:rPr lang="en-US" sz="1600" i="1" dirty="0">
                <a:latin typeface="Times New Roman" panose="02020603050405020304" pitchFamily="18" charset="0"/>
                <a:cs typeface="Times New Roman" panose="02020603050405020304" pitchFamily="18" charset="0"/>
              </a:rPr>
              <a:t>Rao et al., "Cloud-BasedTelematics System for Next-Gen Hybrid Vehicles", IEEE Systems Journal, </a:t>
            </a:r>
            <a:r>
              <a:rPr lang="en-US" sz="1600" b="1" i="1" dirty="0">
                <a:latin typeface="Times New Roman" panose="02020603050405020304" pitchFamily="18" charset="0"/>
                <a:cs typeface="Times New Roman" panose="02020603050405020304" pitchFamily="18" charset="0"/>
              </a:rPr>
              <a:t>2025</a:t>
            </a:r>
            <a:r>
              <a:rPr lang="en-US" sz="1600" i="1" dirty="0">
                <a:latin typeface="Times New Roman" panose="02020603050405020304" pitchFamily="18" charset="0"/>
                <a:cs typeface="Times New Roman" panose="02020603050405020304" pitchFamily="18" charset="0"/>
              </a:rPr>
              <a:t>.</a:t>
            </a:r>
          </a:p>
        </p:txBody>
      </p:sp>
      <p:pic>
        <p:nvPicPr>
          <p:cNvPr id="5" name="Picture 4" descr="Admissions — SIMATS">
            <a:extLst>
              <a:ext uri="{FF2B5EF4-FFF2-40B4-BE49-F238E27FC236}">
                <a16:creationId xmlns:a16="http://schemas.microsoft.com/office/drawing/2014/main" id="{2A2A853D-CA2F-3C99-F5B8-BBA1FB7B32EE}"/>
              </a:ext>
            </a:extLst>
          </p:cNvPr>
          <p:cNvPicPr>
            <a:picLocks noChangeAspect="1"/>
          </p:cNvPicPr>
          <p:nvPr/>
        </p:nvPicPr>
        <p:blipFill>
          <a:blip r:embed="rId3"/>
          <a:stretch>
            <a:fillRect/>
          </a:stretch>
        </p:blipFill>
        <p:spPr>
          <a:xfrm>
            <a:off x="4690920" y="56271"/>
            <a:ext cx="4062270" cy="492370"/>
          </a:xfrm>
          <a:prstGeom prst="rect">
            <a:avLst/>
          </a:prstGeom>
        </p:spPr>
      </p:pic>
      <p:pic>
        <p:nvPicPr>
          <p:cNvPr id="7" name="Picture 6" descr="Saveetha University">
            <a:extLst>
              <a:ext uri="{FF2B5EF4-FFF2-40B4-BE49-F238E27FC236}">
                <a16:creationId xmlns:a16="http://schemas.microsoft.com/office/drawing/2014/main" id="{E5C893BA-9E02-B0BF-6892-74AACA68C0CF}"/>
              </a:ext>
            </a:extLst>
          </p:cNvPr>
          <p:cNvPicPr>
            <a:picLocks noChangeAspect="1"/>
          </p:cNvPicPr>
          <p:nvPr/>
        </p:nvPicPr>
        <p:blipFill>
          <a:blip r:embed="rId4"/>
          <a:stretch>
            <a:fillRect/>
          </a:stretch>
        </p:blipFill>
        <p:spPr>
          <a:xfrm>
            <a:off x="92061" y="90841"/>
            <a:ext cx="4062270" cy="4583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5,895 Thank You Sign Royalty-Free Images, Stock Photos &amp; Pictures |  Shutterstock">
            <a:extLst>
              <a:ext uri="{FF2B5EF4-FFF2-40B4-BE49-F238E27FC236}">
                <a16:creationId xmlns:a16="http://schemas.microsoft.com/office/drawing/2014/main" id="{6110245E-94C9-12DB-2750-254B00CE2C57}"/>
              </a:ext>
            </a:extLst>
          </p:cNvPr>
          <p:cNvPicPr>
            <a:picLocks noChangeAspect="1"/>
          </p:cNvPicPr>
          <p:nvPr/>
        </p:nvPicPr>
        <p:blipFill>
          <a:blip r:embed="rId2"/>
          <a:srcRect b="5033"/>
          <a:stretch>
            <a:fillRect/>
          </a:stretch>
        </p:blipFill>
        <p:spPr>
          <a:xfrm>
            <a:off x="1540412" y="1208099"/>
            <a:ext cx="5944626" cy="3005175"/>
          </a:xfrm>
          <a:prstGeom prst="rect">
            <a:avLst/>
          </a:prstGeom>
        </p:spPr>
      </p:pic>
    </p:spTree>
    <p:extLst>
      <p:ext uri="{BB962C8B-B14F-4D97-AF65-F5344CB8AC3E}">
        <p14:creationId xmlns:p14="http://schemas.microsoft.com/office/powerpoint/2010/main" val="674436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942</Words>
  <Application>Microsoft Office PowerPoint</Application>
  <PresentationFormat>On-screen Show (16:9)</PresentationFormat>
  <Paragraphs>155</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Times New Roman</vt:lpstr>
      <vt:lpstr>Office Theme</vt:lpstr>
      <vt:lpstr>Cloud-Enabled Fuel Consumption Analysis and Energy Efficiency Optimization for Hybrid Vehicles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SlideMake.com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Development Of An Intelligent Smart Agriculture Management System Using Data Structures A</dc:title>
  <dc:subject>Design And Development Of An Intelligent Smart Agriculture Management System Using Data Structures A</dc:subject>
  <dc:creator>SlideMake.com</dc:creator>
  <cp:lastModifiedBy>guru p</cp:lastModifiedBy>
  <cp:revision>5</cp:revision>
  <dcterms:created xsi:type="dcterms:W3CDTF">2026-07-22T02:09:05Z</dcterms:created>
  <dcterms:modified xsi:type="dcterms:W3CDTF">2026-09-01T05:01:41Z</dcterms:modified>
</cp:coreProperties>
</file>